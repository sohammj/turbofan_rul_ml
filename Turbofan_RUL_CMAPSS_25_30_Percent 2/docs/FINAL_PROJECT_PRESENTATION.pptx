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20e5e1ec14d4a" /><Relationship Type="http://schemas.openxmlformats.org/officeDocument/2006/relationships/extended-properties" Target="/docProps/app.xml" Id="Reef80ba5450c4c42" /><Relationship Type="http://schemas.openxmlformats.org/officeDocument/2006/relationships/officeDocument" Target="/ppt/presentation.xml" Id="R4d46e349f5eb4b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bac705f7444f5f"/>
  </p:sldMasterIdLst>
  <p:notesMasterIdLst>
    <p:notesMasterId xmlns:r="http://schemas.openxmlformats.org/officeDocument/2006/relationships" r:id="R1fb147352cc94b50"/>
  </p:notesMasterIdLst>
  <p:sldIdLst>
    <p:sldId xmlns:r="http://schemas.openxmlformats.org/officeDocument/2006/relationships" id="256" r:id="R0fa6deb9703b4bb5"/>
    <p:sldId xmlns:r="http://schemas.openxmlformats.org/officeDocument/2006/relationships" id="257" r:id="Re366eaccb82d4251"/>
    <p:sldId xmlns:r="http://schemas.openxmlformats.org/officeDocument/2006/relationships" id="258" r:id="R118d2bb73d224544"/>
    <p:sldId xmlns:r="http://schemas.openxmlformats.org/officeDocument/2006/relationships" id="259" r:id="R8ed02e559376404e"/>
    <p:sldId xmlns:r="http://schemas.openxmlformats.org/officeDocument/2006/relationships" id="260" r:id="Rea0ac4de3e77497f"/>
    <p:sldId xmlns:r="http://schemas.openxmlformats.org/officeDocument/2006/relationships" id="261" r:id="Rb2697b7682b84cf1"/>
    <p:sldId xmlns:r="http://schemas.openxmlformats.org/officeDocument/2006/relationships" id="262" r:id="R8204648c7f534f92"/>
    <p:sldId xmlns:r="http://schemas.openxmlformats.org/officeDocument/2006/relationships" id="263" r:id="Rfc2409b5563041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b98aa44fd4fb1" /><Relationship Type="http://schemas.openxmlformats.org/officeDocument/2006/relationships/slideMaster" Target="/ppt/slideMasters/slideMaster1.xml" Id="R7cbac705f7444f5f" /><Relationship Type="http://schemas.openxmlformats.org/officeDocument/2006/relationships/notesMaster" Target="/ppt/notesMasters/notesMaster1.xml" Id="R1fb147352cc94b50" /><Relationship Type="http://schemas.openxmlformats.org/officeDocument/2006/relationships/presProps" Target="/ppt/presProps.xml" Id="Rb5055fa7de5e4ffd" /><Relationship Type="http://schemas.openxmlformats.org/officeDocument/2006/relationships/tableStyles" Target="/ppt/tableStyles.xml" Id="R6349a306a4104c88" /><Relationship Type="http://schemas.openxmlformats.org/officeDocument/2006/relationships/slide" Target="/ppt/slides/slide1.xml" Id="R0fa6deb9703b4bb5" /><Relationship Type="http://schemas.openxmlformats.org/officeDocument/2006/relationships/slide" Target="/ppt/slides/slide2.xml" Id="Re366eaccb82d4251" /><Relationship Type="http://schemas.openxmlformats.org/officeDocument/2006/relationships/slide" Target="/ppt/slides/slide3.xml" Id="R118d2bb73d224544" /><Relationship Type="http://schemas.openxmlformats.org/officeDocument/2006/relationships/slide" Target="/ppt/slides/slide4.xml" Id="R8ed02e559376404e" /><Relationship Type="http://schemas.openxmlformats.org/officeDocument/2006/relationships/slide" Target="/ppt/slides/slide5.xml" Id="Rea0ac4de3e77497f" /><Relationship Type="http://schemas.openxmlformats.org/officeDocument/2006/relationships/slide" Target="/ppt/slides/slide6.xml" Id="Rb2697b7682b84cf1" /><Relationship Type="http://schemas.openxmlformats.org/officeDocument/2006/relationships/slide" Target="/ppt/slides/slide7.xml" Id="R8204648c7f534f92" /><Relationship Type="http://schemas.openxmlformats.org/officeDocument/2006/relationships/slide" Target="/ppt/slides/slide8.xml" Id="Rfc2409b55630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65b547fac45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6b12fe42ee4275" /><Relationship Type="http://schemas.openxmlformats.org/officeDocument/2006/relationships/notesMaster" Target="/ppt/notesMasters/notesMaster1.xml" Id="R28575d4b08fc45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c45154b3884a17" /><Relationship Type="http://schemas.openxmlformats.org/officeDocument/2006/relationships/notesMaster" Target="/ppt/notesMasters/notesMaster1.xml" Id="R0bb62672fdb84a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0b8649b2ca4c4b" /><Relationship Type="http://schemas.openxmlformats.org/officeDocument/2006/relationships/notesMaster" Target="/ppt/notesMasters/notesMaster1.xml" Id="R824507e9394242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0b7e6a29648f2" /><Relationship Type="http://schemas.openxmlformats.org/officeDocument/2006/relationships/notesMaster" Target="/ppt/notesMasters/notesMaster1.xml" Id="Rdd4e927c0635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f041dac31493e" /><Relationship Type="http://schemas.openxmlformats.org/officeDocument/2006/relationships/notesMaster" Target="/ppt/notesMasters/notesMaster1.xml" Id="R6e4ba1e7795b4d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86d3764f504b44" /><Relationship Type="http://schemas.openxmlformats.org/officeDocument/2006/relationships/notesMaster" Target="/ppt/notesMasters/notesMaster1.xml" Id="Rea2ee9f3577b45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1af2eb9a5f4dee" /><Relationship Type="http://schemas.openxmlformats.org/officeDocument/2006/relationships/notesMaster" Target="/ppt/notesMasters/notesMaster1.xml" Id="Re9245bc45c7a49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b23cc7e7e84eff" /><Relationship Type="http://schemas.openxmlformats.org/officeDocument/2006/relationships/notesMaster" Target="/ppt/notesMasters/notesMaster1.xml" Id="Rd74c4b1b634e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NASA C-MAPSS data and Saxena et al. (2008), DOI 10.1109/PHM.2008.4711414. The data are simulated, not live aircraft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docs/SOURCE_PROVENANCE.md and reports/dataset_summary.csv. FD001–FD004 are the modeled subsets; the original PHM08 challenge train.txt package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src/cmapss_pipeline.py, reports/PREPROCESSING_SUMMARY.md, docs/MODELING_PROTOCOL.md. Modeling reloads raw data and fits feature selection inside the engine-wise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docs/MODELING_PROTOCOL.md. The candidates are the median baseline, Ridge regression, Random Forest and Histogram Gradient Boosting. The official test answers are excluded from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reports/modeling/official_test_summary.csv. RMSE and MAE are measured in cycles. The selected model was chosen on validation data before official-test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reports/modeling/FD001/official_test_actual_vs_predicted.png and reports/modeling/FD002/official_test_actual_vs_predicted.png. Each point is one official test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reports/modeling/error_direction_counts.csv and reports/modeling/error_by_rul_band.png. Overestimation means predicted remaining life exceeds actual remaining life.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docs/ROBUSTNESS_ANALYSIS.md and reports/robustness/repeated_validation_rmse.png. This post-hoc audit uses three training-only engine splits and fixed 50%, 70%, 85% endpoints. It does not alter the official-test model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a54d1e87346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707a9e96f48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07c7ff43c4e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406b7cf0b44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426a203d44d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d29b9ef6c44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94F825-C992-4688-8D93-E94D5B74CD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74E687-01A9-4F0D-A084-2A18C24606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D02266-4D77-4875-9446-A7B3A186F7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AEFD40-2439-4AF9-955D-5344209E9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325EC4-D372-4334-9374-7BC4D26D95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AA9568-4D50-43B3-9DF8-9D441BC550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A87DD8-4CDA-4D82-8095-3F78816E6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23EA0C-E0E5-4AB7-82D7-16B09320FF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4E74EE-40B0-4805-A4BE-6AC3935CBE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DB2371-C225-4799-BA67-A13A478F17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fc490df4a458d" /><Relationship Type="http://schemas.openxmlformats.org/officeDocument/2006/relationships/slideLayout" Target="/ppt/slideLayouts/slideLayout1.xml" Id="R50b8a3521abb4ef3" /><Relationship Type="http://schemas.openxmlformats.org/officeDocument/2006/relationships/slideLayout" Target="/ppt/slideLayouts/slideLayout2.xml" Id="Rf8fec8e896e743f6" /><Relationship Type="http://schemas.openxmlformats.org/officeDocument/2006/relationships/slideLayout" Target="/ppt/slideLayouts/slideLayout3.xml" Id="R6dd997fcf3364ea4" /><Relationship Type="http://schemas.openxmlformats.org/officeDocument/2006/relationships/slideLayout" Target="/ppt/slideLayouts/slideLayout4.xml" Id="Ra60267ac053d434d" /><Relationship Type="http://schemas.openxmlformats.org/officeDocument/2006/relationships/slideLayout" Target="/ppt/slideLayouts/slideLayout5.xml" Id="Ra42535ef9be74fbb" /><Relationship Type="http://schemas.openxmlformats.org/officeDocument/2006/relationships/slideLayout" Target="/ppt/slideLayouts/slideLayout6.xml" Id="Reb541f2e8a674f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8a3521abb4ef3"/>
    <p:sldLayoutId xmlns:r="http://schemas.openxmlformats.org/officeDocument/2006/relationships" id="2147483650" r:id="Rf8fec8e896e743f6"/>
    <p:sldLayoutId xmlns:r="http://schemas.openxmlformats.org/officeDocument/2006/relationships" id="2147483651" r:id="R6dd997fcf3364ea4"/>
    <p:sldLayoutId xmlns:r="http://schemas.openxmlformats.org/officeDocument/2006/relationships" id="2147483652" r:id="Ra60267ac053d434d"/>
    <p:sldLayoutId xmlns:r="http://schemas.openxmlformats.org/officeDocument/2006/relationships" id="2147483653" r:id="Ra42535ef9be74fbb"/>
    <p:sldLayoutId xmlns:r="http://schemas.openxmlformats.org/officeDocument/2006/relationships" id="2147483654" r:id="Reb541f2e8a674f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143bd6b9e4441" /><Relationship Type="http://schemas.openxmlformats.org/officeDocument/2006/relationships/notesSlide" Target="/ppt/notesSlides/notesSlide1.xml" Id="R216b4c2e94284f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b559b71f64d3d" /><Relationship Type="http://schemas.openxmlformats.org/officeDocument/2006/relationships/notesSlide" Target="/ppt/notesSlides/notesSlide2.xml" Id="R905bf486ae2e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d67de04b1436e" /><Relationship Type="http://schemas.openxmlformats.org/officeDocument/2006/relationships/notesSlide" Target="/ppt/notesSlides/notesSlide3.xml" Id="R531ef7e78c6c48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17ccdc2cd49f3" /><Relationship Type="http://schemas.openxmlformats.org/officeDocument/2006/relationships/notesSlide" Target="/ppt/notesSlides/notesSlide4.xml" Id="Rf4d073c5c50e40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b1032a2944289" /><Relationship Type="http://schemas.openxmlformats.org/officeDocument/2006/relationships/notesSlide" Target="/ppt/notesSlides/notesSlide5.xml" Id="Rbd4ddb60dc794a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6fe582cbb4135" /><Relationship Type="http://schemas.openxmlformats.org/officeDocument/2006/relationships/image" Target="/ppt/media/image.png" Id="Rc640bf437c274afe" /><Relationship Type="http://schemas.openxmlformats.org/officeDocument/2006/relationships/image" Target="/ppt/media/image2.png" Id="R9de6afb744a34f2a" /><Relationship Type="http://schemas.openxmlformats.org/officeDocument/2006/relationships/notesSlide" Target="/ppt/notesSlides/notesSlide6.xml" Id="Rb2261001353f40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74aabce884317" /><Relationship Type="http://schemas.openxmlformats.org/officeDocument/2006/relationships/image" Target="/ppt/media/image3.png" Id="R7d2e65a770b940cd" /><Relationship Type="http://schemas.openxmlformats.org/officeDocument/2006/relationships/notesSlide" Target="/ppt/notesSlides/notesSlide7.xml" Id="R4a8679b824a941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b3434d3b440ff" /><Relationship Type="http://schemas.openxmlformats.org/officeDocument/2006/relationships/image" Target="/ppt/media/image4.png" Id="R2dc13c8a3b4a48d4" /><Relationship Type="http://schemas.openxmlformats.org/officeDocument/2006/relationships/notesSlide" Target="/ppt/notesSlides/notesSlide8.xml" Id="Rff7efda1e70e44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8D288-615D-4802-A4B1-FC8DE8E2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B42"/>
                </a:solidFill>
              </a:defRPr>
            </a:defPPr>
            <a:lvl1pPr>
              <a:defRPr sz="3450" b="1">
                <a:solidFill>
                  <a:srgbClr val="172B42"/>
                </a:solidFill>
              </a:defRPr>
            </a:lvl1pPr>
            <a:lvl2pPr>
              <a:defRPr sz="3450" b="1">
                <a:solidFill>
                  <a:srgbClr val="172B42"/>
                </a:solidFill>
              </a:defRPr>
            </a:lvl2pPr>
            <a:lvl3pPr>
              <a:defRPr sz="3450" b="1">
                <a:solidFill>
                  <a:srgbClr val="172B42"/>
                </a:solidFill>
              </a:defRPr>
            </a:lvl3pPr>
            <a:lvl4pPr>
              <a:defRPr sz="3450" b="1">
                <a:solidFill>
                  <a:srgbClr val="172B42"/>
                </a:solidFill>
              </a:defRPr>
            </a:lvl4pPr>
            <a:lvl5pPr>
              <a:defRPr sz="3450" b="1">
                <a:solidFill>
                  <a:srgbClr val="172B42"/>
                </a:solidFill>
              </a:defRPr>
            </a:lvl5pPr>
            <a:lvl6pPr>
              <a:defRPr sz="3450" b="1">
                <a:solidFill>
                  <a:srgbClr val="172B42"/>
                </a:solidFill>
              </a:defRPr>
            </a:lvl6pPr>
            <a:lvl7pPr>
              <a:defRPr sz="3450" b="1">
                <a:solidFill>
                  <a:srgbClr val="172B42"/>
                </a:solidFill>
              </a:defRPr>
            </a:lvl7pPr>
            <a:lvl8pPr>
              <a:defRPr sz="3450" b="1">
                <a:solidFill>
                  <a:srgbClr val="172B42"/>
                </a:solidFill>
              </a:defRPr>
            </a:lvl8pPr>
            <a:lvl9pPr>
              <a:defRPr sz="34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42"/>
                </a:solidFill>
              </a:defRPr>
            </a:pPr>
            <a:r>
              <a:rPr sz="3450" b="1">
                <a:solidFill>
                  <a:srgbClr val="172B42"/>
                </a:solidFill>
              </a:rPr>
              <a:t>Predictive Remaining Useful Life Estimation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DF776-64FB-4ED8-B92B-CC7CEA1E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D4854"/>
                </a:solidFill>
              </a:defRPr>
            </a:defPPr>
            <a:lvl1pPr>
              <a:defRPr sz="2175" b="0">
                <a:solidFill>
                  <a:srgbClr val="3D4854"/>
                </a:solidFill>
              </a:defRPr>
            </a:lvl1pPr>
            <a:lvl2pPr>
              <a:defRPr sz="2175" b="0">
                <a:solidFill>
                  <a:srgbClr val="3D4854"/>
                </a:solidFill>
              </a:defRPr>
            </a:lvl2pPr>
            <a:lvl3pPr>
              <a:defRPr sz="2175" b="0">
                <a:solidFill>
                  <a:srgbClr val="3D4854"/>
                </a:solidFill>
              </a:defRPr>
            </a:lvl3pPr>
            <a:lvl4pPr>
              <a:defRPr sz="2175" b="0">
                <a:solidFill>
                  <a:srgbClr val="3D4854"/>
                </a:solidFill>
              </a:defRPr>
            </a:lvl4pPr>
            <a:lvl5pPr>
              <a:defRPr sz="2175" b="0">
                <a:solidFill>
                  <a:srgbClr val="3D4854"/>
                </a:solidFill>
              </a:defRPr>
            </a:lvl5pPr>
            <a:lvl6pPr>
              <a:defRPr sz="2175" b="0">
                <a:solidFill>
                  <a:srgbClr val="3D4854"/>
                </a:solidFill>
              </a:defRPr>
            </a:lvl6pPr>
            <a:lvl7pPr>
              <a:defRPr sz="2175" b="0">
                <a:solidFill>
                  <a:srgbClr val="3D4854"/>
                </a:solidFill>
              </a:defRPr>
            </a:lvl7pPr>
            <a:lvl8pPr>
              <a:defRPr sz="2175" b="0">
                <a:solidFill>
                  <a:srgbClr val="3D4854"/>
                </a:solidFill>
              </a:defRPr>
            </a:lvl8pPr>
            <a:lvl9pPr>
              <a:defRPr sz="217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D4854"/>
                </a:solidFill>
              </a:defRPr>
            </a:pPr>
            <a:r>
              <a:rPr sz="2175" b="0">
                <a:solidFill>
                  <a:srgbClr val="3D4854"/>
                </a:solidFill>
              </a:rPr>
              <a:t>NASA C-MAPSS turbofan engines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9B373-D935-48AE-AB76-DB25E22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Final academic machine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1160296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6611E-0EC7-4610-8964-554B3E22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Dataset and prediction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37FED-DAE7-4DD6-8036-BAD63BD4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B42"/>
                </a:solidFill>
              </a:defRPr>
            </a:defPPr>
            <a:lvl1pPr>
              <a:defRPr sz="2100" b="1">
                <a:solidFill>
                  <a:srgbClr val="172B42"/>
                </a:solidFill>
              </a:defRPr>
            </a:lvl1pPr>
            <a:lvl2pPr>
              <a:defRPr sz="2100" b="1">
                <a:solidFill>
                  <a:srgbClr val="172B42"/>
                </a:solidFill>
              </a:defRPr>
            </a:lvl2pPr>
            <a:lvl3pPr>
              <a:defRPr sz="2100" b="1">
                <a:solidFill>
                  <a:srgbClr val="172B42"/>
                </a:solidFill>
              </a:defRPr>
            </a:lvl3pPr>
            <a:lvl4pPr>
              <a:defRPr sz="2100" b="1">
                <a:solidFill>
                  <a:srgbClr val="172B42"/>
                </a:solidFill>
              </a:defRPr>
            </a:lvl4pPr>
            <a:lvl5pPr>
              <a:defRPr sz="2100" b="1">
                <a:solidFill>
                  <a:srgbClr val="172B42"/>
                </a:solidFill>
              </a:defRPr>
            </a:lvl5pPr>
            <a:lvl6pPr>
              <a:defRPr sz="2100" b="1">
                <a:solidFill>
                  <a:srgbClr val="172B42"/>
                </a:solidFill>
              </a:defRPr>
            </a:lvl6pPr>
            <a:lvl7pPr>
              <a:defRPr sz="2100" b="1">
                <a:solidFill>
                  <a:srgbClr val="172B42"/>
                </a:solidFill>
              </a:defRPr>
            </a:lvl7pPr>
            <a:lvl8pPr>
              <a:defRPr sz="2100" b="1">
                <a:solidFill>
                  <a:srgbClr val="172B42"/>
                </a:solidFill>
              </a:defRPr>
            </a:lvl8pPr>
            <a:lvl9pPr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26 raw fields per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3E26A-26B5-46D0-A2BD-52EC50FE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Engine ID, cycle, 3 operating settings, 21 sensors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CE8DB-F7B7-4CD2-90CC-156F13E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Training trajectories run to failure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3252B-4693-416B-A675-90CD5166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Test trajectories stop early. Predict remaining cycles at the last observed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AA578-50DE-4977-B28C-69C421FD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Four subsets: FD001, FD002, FD003, FD004</a:t>
            </a:r>
          </a:p>
        </p:txBody>
      </p:sp>
    </p:spTree>
    <p:extLst>
      <p:ext uri="{BB962C8B-B14F-4D97-AF65-F5344CB8AC3E}">
        <p14:creationId xmlns:p14="http://schemas.microsoft.com/office/powerpoint/2010/main" val="1542713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6F71B-73F5-4F82-A4A8-FEC4F456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Preprocessing and leakage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4A6C5-6785-427B-A662-468CC19B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Raw data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64530-AC91-485B-9781-585CC853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Missing values, duplicates, engine-cycle keys, numeric types and cycle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52C41-CAF1-433E-8A32-7D7FBA9B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RUL 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B4957-EF9F-475C-89F3-16365396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Final training cycle minus current cycle. Official test RUL is an evaluation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938DF-7244-42D4-AD52-407F6868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Leakage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51232-4516-41D8-B77A-DF5CCE9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Split by engine. Use only current and earlier sensor readings. Never use RUL as an input.</a:t>
            </a:r>
          </a:p>
        </p:txBody>
      </p:sp>
    </p:spTree>
    <p:extLst>
      <p:ext uri="{BB962C8B-B14F-4D97-AF65-F5344CB8AC3E}">
        <p14:creationId xmlns:p14="http://schemas.microsoft.com/office/powerpoint/2010/main" val="1702858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75DC7-B42E-420E-B265-6D7A7651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Model selection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87B01-5950-4754-802A-D6B48A8A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1  Hold out 20% of training engines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B1C22-3B86-463A-AECC-9E6F18C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2  Choose one partial-history endpoint per held-out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01FFC-9CBA-46DC-95D8-5C9986E4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3  Compare models using validation RMSE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672D3-289B-4361-92E9-DFCFC51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4  Refit the winner on all training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4A96D-B3A0-46DD-AE48-810DE0F3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5  Evaluate once on official test endpoints</a:t>
            </a:r>
          </a:p>
        </p:txBody>
      </p:sp>
    </p:spTree>
    <p:extLst>
      <p:ext uri="{BB962C8B-B14F-4D97-AF65-F5344CB8AC3E}">
        <p14:creationId xmlns:p14="http://schemas.microsoft.com/office/powerpoint/2010/main" val="631036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92C8C-1AA8-406A-9F83-960AC218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Official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8C463-1E81-42AE-B4FD-96BAEF1E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3D9D3-4FC0-4023-8A02-6DD916DD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Selected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E26BC-6285-4481-AEDF-9F3A4797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7533F-CD7E-4EDE-87C0-D7E1428B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RMSE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9F45C-1CFC-468E-8646-4705B24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0975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R²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28964-EFA2-4ABA-828C-FBEC6163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D583C-D9D0-45B3-8C72-A29DD66D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21B49-F7E9-4B72-B6E6-3F67766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21.21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B54F2-2BEF-44F6-9292-C85889A0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28.68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328D3-41C0-4D64-A105-2CB19CDC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37632-7FDB-4F8D-A4C3-3BE94575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A0169-6607-4B1F-B1C0-F8D8783C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81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Histogram Gradient Boosting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FDD71-736D-40F4-B7A0-84DF5ABB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20.27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ED5E2-CBD6-479A-B7E3-1418917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27.66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7A431-7C05-42D1-B770-AEB7B666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81375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559A7-044E-4A8C-AB4A-57702929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7F84B-7971-4437-988C-058FEF7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33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Histogram Gradient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CCEBD-03A3-4723-B96F-E5C1D56E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23.89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397DA-F4A6-418C-9A8B-E4C92D9B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3385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34.81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D9054-7EF5-4F4E-8FD7-80847647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0.29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2F15D-5F67-464C-9431-282F6F54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D30B9-A658-41EC-A23E-E3E7CCD8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Histogram Gradient Boosting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B8BE0-AD5E-41FD-9B98-84776850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27.72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426D6-2D20-48CC-854E-96BEE2A5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8632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38.50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E9FF42-1A16-4C4F-BB90-69924132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86325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FBCFA-3EE7-4618-86D0-A1F6CCA0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Lower MAE and RMSE are better. These are benchmark results, not deployment guarantees.</a:t>
            </a:r>
          </a:p>
        </p:txBody>
      </p:sp>
    </p:spTree>
    <p:extLst>
      <p:ext uri="{BB962C8B-B14F-4D97-AF65-F5344CB8AC3E}">
        <p14:creationId xmlns:p14="http://schemas.microsoft.com/office/powerpoint/2010/main" val="468562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B48B8-4DDE-45D2-9448-C048ACF4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Predicted versus actual RUL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9039D-5849-46C9-BC1F-BDCDA66F06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0bf437c274afe"/>
          <a:stretch xmlns:a="http://schemas.openxmlformats.org/drawingml/2006/main"/>
        </p:blipFill>
        <p:spPr>
          <a:xfrm xmlns:a="http://schemas.openxmlformats.org/drawingml/2006/main">
            <a:off x="1071563" y="1476375"/>
            <a:ext cx="4333875" cy="433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EAF84-A467-432C-BD9B-E9E3DBEFB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6afb744a34f2a"/>
          <a:stretch xmlns:a="http://schemas.openxmlformats.org/drawingml/2006/main"/>
        </p:blipFill>
        <p:spPr>
          <a:xfrm xmlns:a="http://schemas.openxmlformats.org/drawingml/2006/main">
            <a:off x="6786563" y="1476375"/>
            <a:ext cx="4333875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84C7F-CF1C-4FC6-9A68-DC5A38B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340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B42"/>
                </a:solidFill>
              </a:defRPr>
            </a:defPPr>
            <a:lvl1pPr>
              <a:defRPr sz="1500" b="1">
                <a:solidFill>
                  <a:srgbClr val="172B42"/>
                </a:solidFill>
              </a:defRPr>
            </a:lvl1pPr>
            <a:lvl2pPr>
              <a:defRPr sz="1500" b="1">
                <a:solidFill>
                  <a:srgbClr val="172B42"/>
                </a:solidFill>
              </a:defRPr>
            </a:lvl2pPr>
            <a:lvl3pPr>
              <a:defRPr sz="1500" b="1">
                <a:solidFill>
                  <a:srgbClr val="172B42"/>
                </a:solidFill>
              </a:defRPr>
            </a:lvl3pPr>
            <a:lvl4pPr>
              <a:defRPr sz="1500" b="1">
                <a:solidFill>
                  <a:srgbClr val="172B42"/>
                </a:solidFill>
              </a:defRPr>
            </a:lvl4pPr>
            <a:lvl5pPr>
              <a:defRPr sz="1500" b="1">
                <a:solidFill>
                  <a:srgbClr val="172B42"/>
                </a:solidFill>
              </a:defRPr>
            </a:lvl5pPr>
            <a:lvl6pPr>
              <a:defRPr sz="1500" b="1">
                <a:solidFill>
                  <a:srgbClr val="172B42"/>
                </a:solidFill>
              </a:defRPr>
            </a:lvl6pPr>
            <a:lvl7pPr>
              <a:defRPr sz="1500" b="1">
                <a:solidFill>
                  <a:srgbClr val="172B42"/>
                </a:solidFill>
              </a:defRPr>
            </a:lvl7pPr>
            <a:lvl8pPr>
              <a:defRPr sz="1500" b="1">
                <a:solidFill>
                  <a:srgbClr val="172B42"/>
                </a:solidFill>
              </a:defRPr>
            </a:lvl8pPr>
            <a:lvl9pPr>
              <a:defRPr sz="15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42"/>
                </a:solidFill>
              </a:defRPr>
            </a:pPr>
            <a:r>
              <a:rPr sz="1500" b="1">
                <a:solidFill>
                  <a:srgbClr val="172B42"/>
                </a:solidFill>
              </a:rPr>
              <a:t>FD001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B8F25-7D4E-47AB-A18C-EBBCBF9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340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B42"/>
                </a:solidFill>
              </a:defRPr>
            </a:defPPr>
            <a:lvl1pPr>
              <a:defRPr sz="1500" b="1">
                <a:solidFill>
                  <a:srgbClr val="172B42"/>
                </a:solidFill>
              </a:defRPr>
            </a:lvl1pPr>
            <a:lvl2pPr>
              <a:defRPr sz="1500" b="1">
                <a:solidFill>
                  <a:srgbClr val="172B42"/>
                </a:solidFill>
              </a:defRPr>
            </a:lvl2pPr>
            <a:lvl3pPr>
              <a:defRPr sz="1500" b="1">
                <a:solidFill>
                  <a:srgbClr val="172B42"/>
                </a:solidFill>
              </a:defRPr>
            </a:lvl3pPr>
            <a:lvl4pPr>
              <a:defRPr sz="1500" b="1">
                <a:solidFill>
                  <a:srgbClr val="172B42"/>
                </a:solidFill>
              </a:defRPr>
            </a:lvl4pPr>
            <a:lvl5pPr>
              <a:defRPr sz="1500" b="1">
                <a:solidFill>
                  <a:srgbClr val="172B42"/>
                </a:solidFill>
              </a:defRPr>
            </a:lvl5pPr>
            <a:lvl6pPr>
              <a:defRPr sz="1500" b="1">
                <a:solidFill>
                  <a:srgbClr val="172B42"/>
                </a:solidFill>
              </a:defRPr>
            </a:lvl6pPr>
            <a:lvl7pPr>
              <a:defRPr sz="1500" b="1">
                <a:solidFill>
                  <a:srgbClr val="172B42"/>
                </a:solidFill>
              </a:defRPr>
            </a:lvl7pPr>
            <a:lvl8pPr>
              <a:defRPr sz="1500" b="1">
                <a:solidFill>
                  <a:srgbClr val="172B42"/>
                </a:solidFill>
              </a:defRPr>
            </a:lvl8pPr>
            <a:lvl9pPr>
              <a:defRPr sz="15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42"/>
                </a:solidFill>
              </a:defRPr>
            </a:pPr>
            <a:r>
              <a:rPr sz="1500" b="1">
                <a:solidFill>
                  <a:srgbClr val="172B42"/>
                </a:solidFill>
              </a:rPr>
              <a:t>FD002</a:t>
            </a:r>
          </a:p>
        </p:txBody>
      </p:sp>
    </p:spTree>
    <p:extLst>
      <p:ext uri="{BB962C8B-B14F-4D97-AF65-F5344CB8AC3E}">
        <p14:creationId xmlns:p14="http://schemas.microsoft.com/office/powerpoint/2010/main" val="646385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79D3F-069F-483D-927A-E10838D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Error analysis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C613A-06C4-4193-9DA4-C59FA68D9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e65a770b940cd"/>
          <a:stretch xmlns:a="http://schemas.openxmlformats.org/drawingml/2006/main"/>
        </p:blipFill>
        <p:spPr>
          <a:xfrm xmlns:a="http://schemas.openxmlformats.org/drawingml/2006/main">
            <a:off x="714375" y="1647825"/>
            <a:ext cx="7191375" cy="43148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3B9CC-2166-45F9-A591-761200A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62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Overestimated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14F04-EF1E-443F-AA1C-C342A3DD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76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FD001  65 /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8C82E-DE18-47FB-ACE9-1A2FEE8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38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FD002  150 / 259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E9140-AC6A-4F52-B5F1-651381A7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00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FD003  76 /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E6599-A592-4E1C-BD2D-9A2BC734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FD004  175 / 248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994CD-A062-44CF-9DBE-EA0B184A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197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D4854"/>
                </a:solidFill>
              </a:defRPr>
            </a:defPPr>
            <a:lvl1pPr>
              <a:defRPr sz="1500" b="0">
                <a:solidFill>
                  <a:srgbClr val="3D4854"/>
                </a:solidFill>
              </a:defRPr>
            </a:lvl1pPr>
            <a:lvl2pPr>
              <a:defRPr sz="1500" b="0">
                <a:solidFill>
                  <a:srgbClr val="3D4854"/>
                </a:solidFill>
              </a:defRPr>
            </a:lvl2pPr>
            <a:lvl3pPr>
              <a:defRPr sz="1500" b="0">
                <a:solidFill>
                  <a:srgbClr val="3D4854"/>
                </a:solidFill>
              </a:defRPr>
            </a:lvl3pPr>
            <a:lvl4pPr>
              <a:defRPr sz="1500" b="0">
                <a:solidFill>
                  <a:srgbClr val="3D4854"/>
                </a:solidFill>
              </a:defRPr>
            </a:lvl4pPr>
            <a:lvl5pPr>
              <a:defRPr sz="1500" b="0">
                <a:solidFill>
                  <a:srgbClr val="3D4854"/>
                </a:solidFill>
              </a:defRPr>
            </a:lvl5pPr>
            <a:lvl6pPr>
              <a:defRPr sz="1500" b="0">
                <a:solidFill>
                  <a:srgbClr val="3D4854"/>
                </a:solidFill>
              </a:defRPr>
            </a:lvl6pPr>
            <a:lvl7pPr>
              <a:defRPr sz="1500" b="0">
                <a:solidFill>
                  <a:srgbClr val="3D4854"/>
                </a:solidFill>
              </a:defRPr>
            </a:lvl7pPr>
            <a:lvl8pPr>
              <a:defRPr sz="1500" b="0">
                <a:solidFill>
                  <a:srgbClr val="3D4854"/>
                </a:solidFill>
              </a:defRPr>
            </a:lvl8pPr>
            <a:lvl9pPr>
              <a:defRPr sz="150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D4854"/>
                </a:solidFill>
              </a:defRPr>
            </a:pPr>
            <a:r>
              <a:rPr sz="1500" b="0">
                <a:solidFill>
                  <a:srgbClr val="3D4854"/>
                </a:solidFill>
              </a:rPr>
              <a:t>Large individual errors remain.</a:t>
            </a:r>
          </a:p>
        </p:txBody>
      </p:sp>
    </p:spTree>
    <p:extLst>
      <p:ext uri="{BB962C8B-B14F-4D97-AF65-F5344CB8AC3E}">
        <p14:creationId xmlns:p14="http://schemas.microsoft.com/office/powerpoint/2010/main" val="1942803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28A50-498C-4385-B2D3-81D7A10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Robustness and limits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730F6-4FB8-4E04-9D0C-17AE642F14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13c8a3b4a48d4"/>
          <a:stretch xmlns:a="http://schemas.openxmlformats.org/drawingml/2006/main"/>
        </p:blipFill>
        <p:spPr>
          <a:xfrm xmlns:a="http://schemas.openxmlformats.org/drawingml/2006/main">
            <a:off x="932089" y="1504950"/>
            <a:ext cx="6422571" cy="449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FC116-F6B5-4F82-97F6-882FA20E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9775"/>
            <a:ext cx="3476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B42"/>
                </a:solidFill>
              </a:defRPr>
            </a:defPPr>
            <a:lvl1pPr>
              <a:defRPr sz="1650" b="1">
                <a:solidFill>
                  <a:srgbClr val="172B42"/>
                </a:solidFill>
              </a:defRPr>
            </a:lvl1pPr>
            <a:lvl2pPr>
              <a:defRPr sz="1650" b="1">
                <a:solidFill>
                  <a:srgbClr val="172B42"/>
                </a:solidFill>
              </a:defRPr>
            </a:lvl2pPr>
            <a:lvl3pPr>
              <a:defRPr sz="1650" b="1">
                <a:solidFill>
                  <a:srgbClr val="172B42"/>
                </a:solidFill>
              </a:defRPr>
            </a:lvl3pPr>
            <a:lvl4pPr>
              <a:defRPr sz="1650" b="1">
                <a:solidFill>
                  <a:srgbClr val="172B42"/>
                </a:solidFill>
              </a:defRPr>
            </a:lvl4pPr>
            <a:lvl5pPr>
              <a:defRPr sz="1650" b="1">
                <a:solidFill>
                  <a:srgbClr val="172B42"/>
                </a:solidFill>
              </a:defRPr>
            </a:lvl5pPr>
            <a:lvl6pPr>
              <a:defRPr sz="1650" b="1">
                <a:solidFill>
                  <a:srgbClr val="172B42"/>
                </a:solidFill>
              </a:defRPr>
            </a:lvl6pPr>
            <a:lvl7pPr>
              <a:defRPr sz="1650" b="1">
                <a:solidFill>
                  <a:srgbClr val="172B42"/>
                </a:solidFill>
              </a:defRPr>
            </a:lvl7pPr>
            <a:lvl8pPr>
              <a:defRPr sz="1650" b="1">
                <a:solidFill>
                  <a:srgbClr val="172B42"/>
                </a:solidFill>
              </a:defRPr>
            </a:lvl8pPr>
            <a:lvl9pPr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FD002 and FD004 change mean-RMSE leader under this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5AD1A-07B6-431C-84D8-7977DBE0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D4854"/>
                </a:solidFill>
              </a:defRPr>
            </a:defPPr>
            <a:lvl1pPr>
              <a:defRPr sz="1575" b="0">
                <a:solidFill>
                  <a:srgbClr val="3D4854"/>
                </a:solidFill>
              </a:defRPr>
            </a:lvl1pPr>
            <a:lvl2pPr>
              <a:defRPr sz="1575" b="0">
                <a:solidFill>
                  <a:srgbClr val="3D4854"/>
                </a:solidFill>
              </a:defRPr>
            </a:lvl2pPr>
            <a:lvl3pPr>
              <a:defRPr sz="1575" b="0">
                <a:solidFill>
                  <a:srgbClr val="3D4854"/>
                </a:solidFill>
              </a:defRPr>
            </a:lvl3pPr>
            <a:lvl4pPr>
              <a:defRPr sz="1575" b="0">
                <a:solidFill>
                  <a:srgbClr val="3D4854"/>
                </a:solidFill>
              </a:defRPr>
            </a:lvl4pPr>
            <a:lvl5pPr>
              <a:defRPr sz="1575" b="0">
                <a:solidFill>
                  <a:srgbClr val="3D4854"/>
                </a:solidFill>
              </a:defRPr>
            </a:lvl5pPr>
            <a:lvl6pPr>
              <a:defRPr sz="1575" b="0">
                <a:solidFill>
                  <a:srgbClr val="3D4854"/>
                </a:solidFill>
              </a:defRPr>
            </a:lvl6pPr>
            <a:lvl7pPr>
              <a:defRPr sz="1575" b="0">
                <a:solidFill>
                  <a:srgbClr val="3D4854"/>
                </a:solidFill>
              </a:defRPr>
            </a:lvl7pPr>
            <a:lvl8pPr>
              <a:defRPr sz="1575" b="0">
                <a:solidFill>
                  <a:srgbClr val="3D4854"/>
                </a:solidFill>
              </a:defRPr>
            </a:lvl8pPr>
            <a:lvl9pPr>
              <a:defRPr sz="157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D4854"/>
                </a:solidFill>
              </a:defRPr>
            </a:pPr>
            <a:r>
              <a:rPr sz="1575" b="0">
                <a:solidFill>
                  <a:srgbClr val="3D4854"/>
                </a:solidFill>
              </a:rPr>
              <a:t>Three repeats show sensitivity, not a confidence interval.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BC916-BE37-4433-831B-5616AE1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387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D4854"/>
                </a:solidFill>
              </a:defRPr>
            </a:defPPr>
            <a:lvl1pPr>
              <a:defRPr sz="1575" b="0">
                <a:solidFill>
                  <a:srgbClr val="3D4854"/>
                </a:solidFill>
              </a:defRPr>
            </a:lvl1pPr>
            <a:lvl2pPr>
              <a:defRPr sz="1575" b="0">
                <a:solidFill>
                  <a:srgbClr val="3D4854"/>
                </a:solidFill>
              </a:defRPr>
            </a:lvl2pPr>
            <a:lvl3pPr>
              <a:defRPr sz="1575" b="0">
                <a:solidFill>
                  <a:srgbClr val="3D4854"/>
                </a:solidFill>
              </a:defRPr>
            </a:lvl3pPr>
            <a:lvl4pPr>
              <a:defRPr sz="1575" b="0">
                <a:solidFill>
                  <a:srgbClr val="3D4854"/>
                </a:solidFill>
              </a:defRPr>
            </a:lvl4pPr>
            <a:lvl5pPr>
              <a:defRPr sz="1575" b="0">
                <a:solidFill>
                  <a:srgbClr val="3D4854"/>
                </a:solidFill>
              </a:defRPr>
            </a:lvl5pPr>
            <a:lvl6pPr>
              <a:defRPr sz="1575" b="0">
                <a:solidFill>
                  <a:srgbClr val="3D4854"/>
                </a:solidFill>
              </a:defRPr>
            </a:lvl6pPr>
            <a:lvl7pPr>
              <a:defRPr sz="1575" b="0">
                <a:solidFill>
                  <a:srgbClr val="3D4854"/>
                </a:solidFill>
              </a:defRPr>
            </a:lvl7pPr>
            <a:lvl8pPr>
              <a:defRPr sz="1575" b="0">
                <a:solidFill>
                  <a:srgbClr val="3D4854"/>
                </a:solidFill>
              </a:defRPr>
            </a:lvl8pPr>
            <a:lvl9pPr>
              <a:defRPr sz="157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D4854"/>
                </a:solidFill>
              </a:defRPr>
            </a:pPr>
            <a:r>
              <a:rPr sz="1575" b="0">
                <a:solidFill>
                  <a:srgbClr val="3D4854"/>
                </a:solidFill>
              </a:rPr>
              <a:t>Simulated data and late-life overestimates prevent safety claims.</a:t>
            </a:r>
          </a:p>
        </p:txBody>
      </p:sp>
    </p:spTree>
    <p:extLst>
      <p:ext uri="{BB962C8B-B14F-4D97-AF65-F5344CB8AC3E}">
        <p14:creationId xmlns:p14="http://schemas.microsoft.com/office/powerpoint/2010/main" val="1201685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2026-10-20T16:41:50.8880000Z</dcterms:created>
  <dcterms:modified xsi:type="dcterms:W3CDTF">2026-10-20T16:41:50.8880000Z</dcterms:modified>
</coreProperties>
</file>