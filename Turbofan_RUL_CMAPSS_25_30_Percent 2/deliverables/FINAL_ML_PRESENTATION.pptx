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95c8fd71046a0" /><Relationship Type="http://schemas.openxmlformats.org/officeDocument/2006/relationships/extended-properties" Target="/docProps/app.xml" Id="R30e43a238fc0422e" /><Relationship Type="http://schemas.openxmlformats.org/officeDocument/2006/relationships/officeDocument" Target="/ppt/presentation.xml" Id="R44a23e25ba9941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bd6c0f33c64f2a"/>
  </p:sldMasterIdLst>
  <p:notesMasterIdLst>
    <p:notesMasterId xmlns:r="http://schemas.openxmlformats.org/officeDocument/2006/relationships" r:id="R491c59e9b04545ac"/>
  </p:notesMasterIdLst>
  <p:sldIdLst>
    <p:sldId xmlns:r="http://schemas.openxmlformats.org/officeDocument/2006/relationships" id="256" r:id="R417b9a0a46ca418b"/>
    <p:sldId xmlns:r="http://schemas.openxmlformats.org/officeDocument/2006/relationships" id="257" r:id="R21e03f21f6794fc4"/>
    <p:sldId xmlns:r="http://schemas.openxmlformats.org/officeDocument/2006/relationships" id="258" r:id="Rbc81c2915dec4647"/>
    <p:sldId xmlns:r="http://schemas.openxmlformats.org/officeDocument/2006/relationships" id="259" r:id="Rd3f4343e161a42e9"/>
    <p:sldId xmlns:r="http://schemas.openxmlformats.org/officeDocument/2006/relationships" id="260" r:id="R2879d3971e9c4fba"/>
    <p:sldId xmlns:r="http://schemas.openxmlformats.org/officeDocument/2006/relationships" id="261" r:id="R655a5b3ffcf342c5"/>
    <p:sldId xmlns:r="http://schemas.openxmlformats.org/officeDocument/2006/relationships" id="262" r:id="R21cdeaac97cf4977"/>
    <p:sldId xmlns:r="http://schemas.openxmlformats.org/officeDocument/2006/relationships" id="263" r:id="R981c13e1e54044c4"/>
    <p:sldId xmlns:r="http://schemas.openxmlformats.org/officeDocument/2006/relationships" id="264" r:id="Raba91601531647e7"/>
    <p:sldId xmlns:r="http://schemas.openxmlformats.org/officeDocument/2006/relationships" id="265" r:id="Red3ecabf73224f5d"/>
    <p:sldId xmlns:r="http://schemas.openxmlformats.org/officeDocument/2006/relationships" id="266" r:id="Rbd064e9db0024ef5"/>
    <p:sldId xmlns:r="http://schemas.openxmlformats.org/officeDocument/2006/relationships" id="267" r:id="Raca37784893a4f86"/>
    <p:sldId xmlns:r="http://schemas.openxmlformats.org/officeDocument/2006/relationships" id="268" r:id="R69e1788f255a4273"/>
    <p:sldId xmlns:r="http://schemas.openxmlformats.org/officeDocument/2006/relationships" id="269" r:id="R85b1db0806af494e"/>
    <p:sldId xmlns:r="http://schemas.openxmlformats.org/officeDocument/2006/relationships" id="270" r:id="R9587ee909143402d"/>
    <p:sldId xmlns:r="http://schemas.openxmlformats.org/officeDocument/2006/relationships" id="271" r:id="Rd01e6d1c863f4bd2"/>
    <p:sldId xmlns:r="http://schemas.openxmlformats.org/officeDocument/2006/relationships" id="272" r:id="R652df39cca9e4b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5feaa5c17c4cee" /><Relationship Type="http://schemas.openxmlformats.org/officeDocument/2006/relationships/slideMaster" Target="/ppt/slideMasters/slideMaster1.xml" Id="R39bd6c0f33c64f2a" /><Relationship Type="http://schemas.openxmlformats.org/officeDocument/2006/relationships/notesMaster" Target="/ppt/notesMasters/notesMaster1.xml" Id="R491c59e9b04545ac" /><Relationship Type="http://schemas.openxmlformats.org/officeDocument/2006/relationships/presProps" Target="/ppt/presProps.xml" Id="Rd05847b4da9e451c" /><Relationship Type="http://schemas.openxmlformats.org/officeDocument/2006/relationships/tableStyles" Target="/ppt/tableStyles.xml" Id="R9e505b960afe4408" /><Relationship Type="http://schemas.openxmlformats.org/officeDocument/2006/relationships/slide" Target="/ppt/slides/slide1.xml" Id="R417b9a0a46ca418b" /><Relationship Type="http://schemas.openxmlformats.org/officeDocument/2006/relationships/slide" Target="/ppt/slides/slide2.xml" Id="R21e03f21f6794fc4" /><Relationship Type="http://schemas.openxmlformats.org/officeDocument/2006/relationships/slide" Target="/ppt/slides/slide3.xml" Id="Rbc81c2915dec4647" /><Relationship Type="http://schemas.openxmlformats.org/officeDocument/2006/relationships/slide" Target="/ppt/slides/slide4.xml" Id="Rd3f4343e161a42e9" /><Relationship Type="http://schemas.openxmlformats.org/officeDocument/2006/relationships/slide" Target="/ppt/slides/slide5.xml" Id="R2879d3971e9c4fba" /><Relationship Type="http://schemas.openxmlformats.org/officeDocument/2006/relationships/slide" Target="/ppt/slides/slide6.xml" Id="R655a5b3ffcf342c5" /><Relationship Type="http://schemas.openxmlformats.org/officeDocument/2006/relationships/slide" Target="/ppt/slides/slide7.xml" Id="R21cdeaac97cf4977" /><Relationship Type="http://schemas.openxmlformats.org/officeDocument/2006/relationships/slide" Target="/ppt/slides/slide8.xml" Id="R981c13e1e54044c4" /><Relationship Type="http://schemas.openxmlformats.org/officeDocument/2006/relationships/slide" Target="/ppt/slides/slide9.xml" Id="Raba91601531647e7" /><Relationship Type="http://schemas.openxmlformats.org/officeDocument/2006/relationships/slide" Target="/ppt/slides/slide10.xml" Id="Red3ecabf73224f5d" /><Relationship Type="http://schemas.openxmlformats.org/officeDocument/2006/relationships/slide" Target="/ppt/slides/slide11.xml" Id="Rbd064e9db0024ef5" /><Relationship Type="http://schemas.openxmlformats.org/officeDocument/2006/relationships/slide" Target="/ppt/slides/slide12.xml" Id="Raca37784893a4f86" /><Relationship Type="http://schemas.openxmlformats.org/officeDocument/2006/relationships/slide" Target="/ppt/slides/slide13.xml" Id="R69e1788f255a4273" /><Relationship Type="http://schemas.openxmlformats.org/officeDocument/2006/relationships/slide" Target="/ppt/slides/slide14.xml" Id="R85b1db0806af494e" /><Relationship Type="http://schemas.openxmlformats.org/officeDocument/2006/relationships/slide" Target="/ppt/slides/slide15.xml" Id="R9587ee909143402d" /><Relationship Type="http://schemas.openxmlformats.org/officeDocument/2006/relationships/slide" Target="/ppt/slides/slide16.xml" Id="Rd01e6d1c863f4bd2" /><Relationship Type="http://schemas.openxmlformats.org/officeDocument/2006/relationships/slide" Target="/ppt/slides/slide17.xml" Id="R652df39cca9e4b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da78f15ee3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d24aa1a49e481e" /><Relationship Type="http://schemas.openxmlformats.org/officeDocument/2006/relationships/notesMaster" Target="/ppt/notesMasters/notesMaster1.xml" Id="R208f3712bdd748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ca2823378349ad" /><Relationship Type="http://schemas.openxmlformats.org/officeDocument/2006/relationships/notesMaster" Target="/ppt/notesMasters/notesMaster1.xml" Id="Rbc5a285c2807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b889192cd84a79" /><Relationship Type="http://schemas.openxmlformats.org/officeDocument/2006/relationships/notesMaster" Target="/ppt/notesMasters/notesMaster1.xml" Id="R746c34f23de54d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331add6c86407b" /><Relationship Type="http://schemas.openxmlformats.org/officeDocument/2006/relationships/notesMaster" Target="/ppt/notesMasters/notesMaster1.xml" Id="Raef9563a9c3d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ca1c84ce654bf5" /><Relationship Type="http://schemas.openxmlformats.org/officeDocument/2006/relationships/notesMaster" Target="/ppt/notesMasters/notesMaster1.xml" Id="R7856b93e78e94c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cb757a346480a" /><Relationship Type="http://schemas.openxmlformats.org/officeDocument/2006/relationships/notesMaster" Target="/ppt/notesMasters/notesMaster1.xml" Id="R94e61fd8a3104a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8429c5f18c4045" /><Relationship Type="http://schemas.openxmlformats.org/officeDocument/2006/relationships/notesMaster" Target="/ppt/notesMasters/notesMaster1.xml" Id="R7a95ca17911743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7d0b959a164145" /><Relationship Type="http://schemas.openxmlformats.org/officeDocument/2006/relationships/notesMaster" Target="/ppt/notesMasters/notesMaster1.xml" Id="R54e88c29149d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f331aab13447af" /><Relationship Type="http://schemas.openxmlformats.org/officeDocument/2006/relationships/notesMaster" Target="/ppt/notesMasters/notesMaster1.xml" Id="R6fd99528560d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e3e22840e6412d" /><Relationship Type="http://schemas.openxmlformats.org/officeDocument/2006/relationships/notesMaster" Target="/ppt/notesMasters/notesMaster1.xml" Id="R70c24abccc224b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3ff49cf4d84cdb" /><Relationship Type="http://schemas.openxmlformats.org/officeDocument/2006/relationships/notesMaster" Target="/ppt/notesMasters/notesMaster1.xml" Id="Ra2440f071b7441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97b4e8dcc5400f" /><Relationship Type="http://schemas.openxmlformats.org/officeDocument/2006/relationships/notesMaster" Target="/ppt/notesMasters/notesMaster1.xml" Id="Rf6523b83eb1849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2b4b6522b64fb8" /><Relationship Type="http://schemas.openxmlformats.org/officeDocument/2006/relationships/notesMaster" Target="/ppt/notesMasters/notesMaster1.xml" Id="Rf22c345bd6074d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643b1a58a647c8" /><Relationship Type="http://schemas.openxmlformats.org/officeDocument/2006/relationships/notesMaster" Target="/ppt/notesMasters/notesMaster1.xml" Id="R4b06e5737a0f47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eb466f19fc4195" /><Relationship Type="http://schemas.openxmlformats.org/officeDocument/2006/relationships/notesMaster" Target="/ppt/notesMasters/notesMaster1.xml" Id="R1954d5aa4d4d4a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ef87274a524d9a" /><Relationship Type="http://schemas.openxmlformats.org/officeDocument/2006/relationships/notesMaster" Target="/ppt/notesMasters/notesMaster1.xml" Id="Re6b9e9b507ed41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eac2d48b044f00" /><Relationship Type="http://schemas.openxmlformats.org/officeDocument/2006/relationships/notesMaster" Target="/ppt/notesMasters/notesMaster1.xml" Id="R5989cbc7e999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deliverables/FINAL_ML_REPORT.docx, supplied by the group. Team name, course code, academic year and submission date remain unfilled in the report. Farhaan and Sanjeet roll numbers are also blank.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sections 2 and 5. The NASA C-MAPSS data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NASA C-MAPSS, docs/SOURCE_PROVENANCE.md, reports/dataset_summary.csv. The FD001–FD004 package differs from the PHM08 challenge train.txt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reports/dataset_summary.csv. Counts refer to rows and distinct engines, not independent row samples.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reports/eda/engine_lifetimes.png and GROUP_ACTIVITY_REPORT_SOURCE.md, section 7.1.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src/cmapss_pipeline.py, train_models.py, GROUP_ACTIVITY_REPORT_SOURCE.md, section 6.3.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train_models.py and GROUP_ACTIVITY_REPORT_SOURCE.md, sections 6.4–6.7. Engine ID is a grouping key, not a model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train_models.py and GROUP_ACTIVITY_REPORT_SOURCE.md, section 6.4. Settings were fixed before official-test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reports/modeling/FD00X/validation_metrics.csv. Units are cycles. A lower RMSE is better.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reports/modeling/official_test_summary.csv. The selected models were chosen on validation data. MAE and RMSE are in cycles.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reports/modeling/FD001/official_test_actual_vs_predicted.png and FD002 equivalent. Each dot is one official test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reports/modeling/FD003/official_test_actual_vs_predicted.png and FD004 equivalent. The dashed diagonal is exact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reports/modeling/error_direction_counts.csv and error_by_rul_band.png. Overestimation means predicted RUL exceeds true RUL.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reports/robustness/repeated_validation_rmse.png. Three training-only splits with endpoints at 50%, 70% and 85% of lifetime. This audit did not change official-test selections.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sections 3, 4 and 7.6–7.8. Key literature: Saxena et al. 2008 DOI 10.1109/PHM.2008.4711414; Ramasso and Saxena 2014 DOI 10.36001/ijphm.2014.v5i2.2236; Liu et al. 2023 DOI 10.3390/aerospace10080715.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GROUP_ACTIVITY_REPORT_SOURCE.md, sections 8 and 9. Future work is proposed, not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deliverables/FINAL_ML_REPORT.docx, Declaration and individual contribution table. This slide reproduces the updated report assignment. The report still describes the allocation as proposed and requires member confirmation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e04f0547343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59b29f1eb41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b752b8fbf4b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f08b3ac0746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63ffa817d47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c8e2d8663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8343F0-CF4E-42D7-A55D-7F1EA8F5F2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8E0DEE-D797-489F-8D44-CE9052CEAA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10D885-9813-4B07-AD21-A58B589FF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6070C2-95BE-41DC-8C36-5C2F87F2A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265BA7-B995-4041-808F-8A0A20C54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F2EDBA-CF36-4430-898D-22082FFC5B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DF91B5-FDF5-432F-BEA6-33ED7F95F7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EB15E3-B887-46B9-8F5B-B0ECC0BF27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EB9C5-9D87-410E-8B60-3CA05F8B6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DB7D33-C51F-47C0-9257-2813E5982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d6381c4c704eb0" /><Relationship Type="http://schemas.openxmlformats.org/officeDocument/2006/relationships/slideLayout" Target="/ppt/slideLayouts/slideLayout1.xml" Id="Rf01591c3c704494e" /><Relationship Type="http://schemas.openxmlformats.org/officeDocument/2006/relationships/slideLayout" Target="/ppt/slideLayouts/slideLayout2.xml" Id="R39bc661e294640d3" /><Relationship Type="http://schemas.openxmlformats.org/officeDocument/2006/relationships/slideLayout" Target="/ppt/slideLayouts/slideLayout3.xml" Id="R8125306d1af04aec" /><Relationship Type="http://schemas.openxmlformats.org/officeDocument/2006/relationships/slideLayout" Target="/ppt/slideLayouts/slideLayout4.xml" Id="R7261413fac8b4f01" /><Relationship Type="http://schemas.openxmlformats.org/officeDocument/2006/relationships/slideLayout" Target="/ppt/slideLayouts/slideLayout5.xml" Id="R5195c02c9c00435e" /><Relationship Type="http://schemas.openxmlformats.org/officeDocument/2006/relationships/slideLayout" Target="/ppt/slideLayouts/slideLayout6.xml" Id="R83318f75713f42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1591c3c704494e"/>
    <p:sldLayoutId xmlns:r="http://schemas.openxmlformats.org/officeDocument/2006/relationships" id="2147483650" r:id="R39bc661e294640d3"/>
    <p:sldLayoutId xmlns:r="http://schemas.openxmlformats.org/officeDocument/2006/relationships" id="2147483651" r:id="R8125306d1af04aec"/>
    <p:sldLayoutId xmlns:r="http://schemas.openxmlformats.org/officeDocument/2006/relationships" id="2147483652" r:id="R7261413fac8b4f01"/>
    <p:sldLayoutId xmlns:r="http://schemas.openxmlformats.org/officeDocument/2006/relationships" id="2147483653" r:id="R5195c02c9c00435e"/>
    <p:sldLayoutId xmlns:r="http://schemas.openxmlformats.org/officeDocument/2006/relationships" id="2147483654" r:id="R83318f75713f42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69a5c244b4527" /><Relationship Type="http://schemas.openxmlformats.org/officeDocument/2006/relationships/notesSlide" Target="/ppt/notesSlides/notesSlide1.xml" Id="R623523f7b3e2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0dfac79cd4355" /><Relationship Type="http://schemas.openxmlformats.org/officeDocument/2006/relationships/notesSlide" Target="/ppt/notesSlides/notesSlide2.xml" Id="Ra3eddfcd059043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d9b37d8924b0b" /><Relationship Type="http://schemas.openxmlformats.org/officeDocument/2006/relationships/notesSlide" Target="/ppt/notesSlides/notesSlide3.xml" Id="R89a08fd02e4b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7017cc7974aae" /><Relationship Type="http://schemas.openxmlformats.org/officeDocument/2006/relationships/notesSlide" Target="/ppt/notesSlides/notesSlide4.xml" Id="Rc231df0b7bff49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72ba6750b49fb" /><Relationship Type="http://schemas.openxmlformats.org/officeDocument/2006/relationships/image" Target="/ppt/media/image.png" Id="R177850b43f014b2b" /><Relationship Type="http://schemas.openxmlformats.org/officeDocument/2006/relationships/notesSlide" Target="/ppt/notesSlides/notesSlide5.xml" Id="Rf54f2f855294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89709a9b64551" /><Relationship Type="http://schemas.openxmlformats.org/officeDocument/2006/relationships/notesSlide" Target="/ppt/notesSlides/notesSlide6.xml" Id="R987ff0f50707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c6c2f86ef4b62" /><Relationship Type="http://schemas.openxmlformats.org/officeDocument/2006/relationships/notesSlide" Target="/ppt/notesSlides/notesSlide7.xml" Id="R27ef11522dae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ab4e4a3814e18" /><Relationship Type="http://schemas.openxmlformats.org/officeDocument/2006/relationships/notesSlide" Target="/ppt/notesSlides/notesSlide8.xml" Id="R3f45185250d046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7aafaa49f41ec" /><Relationship Type="http://schemas.openxmlformats.org/officeDocument/2006/relationships/notesSlide" Target="/ppt/notesSlides/notesSlide9.xml" Id="Raf91f41038a54f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52174f3044251" /><Relationship Type="http://schemas.openxmlformats.org/officeDocument/2006/relationships/notesSlide" Target="/ppt/notesSlides/notesSlide10.xml" Id="Rdfafb65873d949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7ead7eecd4dfe" /><Relationship Type="http://schemas.openxmlformats.org/officeDocument/2006/relationships/image" Target="/ppt/media/image2.png" Id="R6dbcebd8d6c7415e" /><Relationship Type="http://schemas.openxmlformats.org/officeDocument/2006/relationships/image" Target="/ppt/media/image3.png" Id="R7ee4c978305c4ff8" /><Relationship Type="http://schemas.openxmlformats.org/officeDocument/2006/relationships/notesSlide" Target="/ppt/notesSlides/notesSlide11.xml" Id="R6aabc75b36504a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33e50bc7647ef" /><Relationship Type="http://schemas.openxmlformats.org/officeDocument/2006/relationships/image" Target="/ppt/media/image4.png" Id="Rc04616ece7e74303" /><Relationship Type="http://schemas.openxmlformats.org/officeDocument/2006/relationships/image" Target="/ppt/media/image5.png" Id="Ree24bf6adc8941d3" /><Relationship Type="http://schemas.openxmlformats.org/officeDocument/2006/relationships/notesSlide" Target="/ppt/notesSlides/notesSlide12.xml" Id="R30162411a3b849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c256effedb430a" /><Relationship Type="http://schemas.openxmlformats.org/officeDocument/2006/relationships/image" Target="/ppt/media/image6.png" Id="R76408d0c2c8b4abf" /><Relationship Type="http://schemas.openxmlformats.org/officeDocument/2006/relationships/notesSlide" Target="/ppt/notesSlides/notesSlide13.xml" Id="Rbc79602585ad44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bb7bd95eb45cd" /><Relationship Type="http://schemas.openxmlformats.org/officeDocument/2006/relationships/image" Target="/ppt/media/image7.png" Id="R56a04beb86ef4d08" /><Relationship Type="http://schemas.openxmlformats.org/officeDocument/2006/relationships/notesSlide" Target="/ppt/notesSlides/notesSlide14.xml" Id="Rfa20b789801b42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3bc05d1bf4ab0" /><Relationship Type="http://schemas.openxmlformats.org/officeDocument/2006/relationships/notesSlide" Target="/ppt/notesSlides/notesSlide15.xml" Id="R01504eeed4d049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c72bfbcee4ec0" /><Relationship Type="http://schemas.openxmlformats.org/officeDocument/2006/relationships/notesSlide" Target="/ppt/notesSlides/notesSlide16.xml" Id="R655267a31f3040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2ebd50c624e4a" /><Relationship Type="http://schemas.openxmlformats.org/officeDocument/2006/relationships/notesSlide" Target="/ppt/notesSlides/notesSlide17.xml" Id="R9ddc8e045137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9098A-3077-449B-99A9-7EB32EAF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75" b="1">
                <a:solidFill>
                  <a:srgbClr val="172B42"/>
                </a:solidFill>
              </a:defRPr>
            </a:defPPr>
            <a:lvl1pPr algn="l">
              <a:defRPr sz="3375" b="1">
                <a:solidFill>
                  <a:srgbClr val="172B42"/>
                </a:solidFill>
              </a:defRPr>
            </a:lvl1pPr>
            <a:lvl2pPr algn="l">
              <a:defRPr sz="3375" b="1">
                <a:solidFill>
                  <a:srgbClr val="172B42"/>
                </a:solidFill>
              </a:defRPr>
            </a:lvl2pPr>
            <a:lvl3pPr algn="l">
              <a:defRPr sz="3375" b="1">
                <a:solidFill>
                  <a:srgbClr val="172B42"/>
                </a:solidFill>
              </a:defRPr>
            </a:lvl3pPr>
            <a:lvl4pPr algn="l">
              <a:defRPr sz="3375" b="1">
                <a:solidFill>
                  <a:srgbClr val="172B42"/>
                </a:solidFill>
              </a:defRPr>
            </a:lvl4pPr>
            <a:lvl5pPr algn="l">
              <a:defRPr sz="3375" b="1">
                <a:solidFill>
                  <a:srgbClr val="172B42"/>
                </a:solidFill>
              </a:defRPr>
            </a:lvl5pPr>
            <a:lvl6pPr algn="l">
              <a:defRPr sz="3375" b="1">
                <a:solidFill>
                  <a:srgbClr val="172B42"/>
                </a:solidFill>
              </a:defRPr>
            </a:lvl6pPr>
            <a:lvl7pPr algn="l">
              <a:defRPr sz="3375" b="1">
                <a:solidFill>
                  <a:srgbClr val="172B42"/>
                </a:solidFill>
              </a:defRPr>
            </a:lvl7pPr>
            <a:lvl8pPr algn="l">
              <a:defRPr sz="3375" b="1">
                <a:solidFill>
                  <a:srgbClr val="172B42"/>
                </a:solidFill>
              </a:defRPr>
            </a:lvl8pPr>
            <a:lvl9pPr algn="l">
              <a:defRPr sz="33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72B42"/>
                </a:solidFill>
              </a:defRPr>
            </a:pPr>
            <a:r>
              <a:rPr sz="3375" b="1">
                <a:solidFill>
                  <a:srgbClr val="172B42"/>
                </a:solidFill>
              </a:rPr>
              <a:t>Predictive Remaining Useful Life</a:t>
            </a:r>
          </a:p>
          <a:p xmlns:a="http://schemas.openxmlformats.org/drawingml/2006/main">
            <a:pPr algn="l">
              <a:defRPr sz="3375" b="1">
                <a:solidFill>
                  <a:srgbClr val="172B42"/>
                </a:solidFill>
              </a:defRPr>
            </a:pPr>
            <a:r>
              <a:rPr sz="3375" b="1">
                <a:solidFill>
                  <a:srgbClr val="172B42"/>
                </a:solidFill>
              </a:rPr>
              <a:t>Estimation of Aircraft Turbofan Engines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4F180-A06F-4C9B-BD14-A38AD324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A668D"/>
                </a:solidFill>
              </a:defRPr>
            </a:defPPr>
            <a:lvl1pPr algn="l">
              <a:defRPr sz="2025" b="0">
                <a:solidFill>
                  <a:srgbClr val="2A668D"/>
                </a:solidFill>
              </a:defRPr>
            </a:lvl1pPr>
            <a:lvl2pPr algn="l">
              <a:defRPr sz="2025" b="0">
                <a:solidFill>
                  <a:srgbClr val="2A668D"/>
                </a:solidFill>
              </a:defRPr>
            </a:lvl2pPr>
            <a:lvl3pPr algn="l">
              <a:defRPr sz="2025" b="0">
                <a:solidFill>
                  <a:srgbClr val="2A668D"/>
                </a:solidFill>
              </a:defRPr>
            </a:lvl3pPr>
            <a:lvl4pPr algn="l">
              <a:defRPr sz="2025" b="0">
                <a:solidFill>
                  <a:srgbClr val="2A668D"/>
                </a:solidFill>
              </a:defRPr>
            </a:lvl4pPr>
            <a:lvl5pPr algn="l">
              <a:defRPr sz="2025" b="0">
                <a:solidFill>
                  <a:srgbClr val="2A668D"/>
                </a:solidFill>
              </a:defRPr>
            </a:lvl5pPr>
            <a:lvl6pPr algn="l">
              <a:defRPr sz="2025" b="0">
                <a:solidFill>
                  <a:srgbClr val="2A668D"/>
                </a:solidFill>
              </a:defRPr>
            </a:lvl6pPr>
            <a:lvl7pPr algn="l">
              <a:defRPr sz="2025" b="0">
                <a:solidFill>
                  <a:srgbClr val="2A668D"/>
                </a:solidFill>
              </a:defRPr>
            </a:lvl7pPr>
            <a:lvl8pPr algn="l">
              <a:defRPr sz="2025" b="0">
                <a:solidFill>
                  <a:srgbClr val="2A668D"/>
                </a:solidFill>
              </a:defRPr>
            </a:lvl8pPr>
            <a:lvl9pPr algn="l">
              <a:defRPr sz="2025" b="0">
                <a:solidFill>
                  <a:srgbClr val="2A668D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A668D"/>
                </a:solidFill>
              </a:defRPr>
            </a:pPr>
            <a:r>
              <a:rPr sz="2025" b="0">
                <a:solidFill>
                  <a:srgbClr val="2A668D"/>
                </a:solidFill>
              </a:rPr>
              <a:t>Machine Learning Group Activity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F85A8-E72D-4831-8AA1-D57D2993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 Tech Computer Science and Engineering Data Science  |  Semester 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2EA02-7196-4E08-AF73-C846CCBB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5A6875"/>
                </a:solidFill>
              </a:defRPr>
            </a:defPPr>
            <a:lvl1pPr algn="l">
              <a:defRPr sz="1650" b="0">
                <a:solidFill>
                  <a:srgbClr val="5A6875"/>
                </a:solidFill>
              </a:defRPr>
            </a:lvl1pPr>
            <a:lvl2pPr algn="l">
              <a:defRPr sz="1650" b="0">
                <a:solidFill>
                  <a:srgbClr val="5A6875"/>
                </a:solidFill>
              </a:defRPr>
            </a:lvl2pPr>
            <a:lvl3pPr algn="l">
              <a:defRPr sz="1650" b="0">
                <a:solidFill>
                  <a:srgbClr val="5A6875"/>
                </a:solidFill>
              </a:defRPr>
            </a:lvl3pPr>
            <a:lvl4pPr algn="l">
              <a:defRPr sz="1650" b="0">
                <a:solidFill>
                  <a:srgbClr val="5A6875"/>
                </a:solidFill>
              </a:defRPr>
            </a:lvl4pPr>
            <a:lvl5pPr algn="l">
              <a:defRPr sz="1650" b="0">
                <a:solidFill>
                  <a:srgbClr val="5A6875"/>
                </a:solidFill>
              </a:defRPr>
            </a:lvl5pPr>
            <a:lvl6pPr algn="l">
              <a:defRPr sz="1650" b="0">
                <a:solidFill>
                  <a:srgbClr val="5A6875"/>
                </a:solidFill>
              </a:defRPr>
            </a:lvl6pPr>
            <a:lvl7pPr algn="l">
              <a:defRPr sz="1650" b="0">
                <a:solidFill>
                  <a:srgbClr val="5A6875"/>
                </a:solidFill>
              </a:defRPr>
            </a:lvl7pPr>
            <a:lvl8pPr algn="l">
              <a:defRPr sz="1650" b="0">
                <a:solidFill>
                  <a:srgbClr val="5A6875"/>
                </a:solidFill>
              </a:defRPr>
            </a:lvl8pPr>
            <a:lvl9pPr algn="l">
              <a:defRPr sz="165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A6875"/>
                </a:solidFill>
              </a:defRPr>
            </a:pPr>
            <a:r>
              <a:rPr sz="1650" b="0">
                <a:solidFill>
                  <a:srgbClr val="5A6875"/>
                </a:solidFill>
              </a:rPr>
              <a:t>Mentor: Abhay Kolhe</a:t>
            </a:r>
          </a:p>
        </p:txBody>
      </p:sp>
    </p:spTree>
    <p:extLst>
      <p:ext uri="{BB962C8B-B14F-4D97-AF65-F5344CB8AC3E}">
        <p14:creationId xmlns:p14="http://schemas.microsoft.com/office/powerpoint/2010/main" val="546644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DA122-A897-463A-894B-6FF3C02F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2E727-6533-4E0A-833C-76EE7305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7B98F-DD8A-43E8-B7BC-2D1DF24A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0">
                <a:solidFill>
                  <a:srgbClr val="344454"/>
                </a:solidFill>
              </a:defRPr>
            </a:defPPr>
            <a:lvl1pPr algn="l">
              <a:defRPr sz="2250" b="0">
                <a:solidFill>
                  <a:srgbClr val="344454"/>
                </a:solidFill>
              </a:defRPr>
            </a:lvl1pPr>
            <a:lvl2pPr algn="l">
              <a:defRPr sz="2250" b="0">
                <a:solidFill>
                  <a:srgbClr val="344454"/>
                </a:solidFill>
              </a:defRPr>
            </a:lvl2pPr>
            <a:lvl3pPr algn="l">
              <a:defRPr sz="2250" b="0">
                <a:solidFill>
                  <a:srgbClr val="344454"/>
                </a:solidFill>
              </a:defRPr>
            </a:lvl3pPr>
            <a:lvl4pPr algn="l">
              <a:defRPr sz="2250" b="0">
                <a:solidFill>
                  <a:srgbClr val="344454"/>
                </a:solidFill>
              </a:defRPr>
            </a:lvl4pPr>
            <a:lvl5pPr algn="l">
              <a:defRPr sz="2250" b="0">
                <a:solidFill>
                  <a:srgbClr val="344454"/>
                </a:solidFill>
              </a:defRPr>
            </a:lvl5pPr>
            <a:lvl6pPr algn="l">
              <a:defRPr sz="2250" b="0">
                <a:solidFill>
                  <a:srgbClr val="344454"/>
                </a:solidFill>
              </a:defRPr>
            </a:lvl6pPr>
            <a:lvl7pPr algn="l">
              <a:defRPr sz="2250" b="0">
                <a:solidFill>
                  <a:srgbClr val="344454"/>
                </a:solidFill>
              </a:defRPr>
            </a:lvl7pPr>
            <a:lvl8pPr algn="l">
              <a:defRPr sz="2250" b="0">
                <a:solidFill>
                  <a:srgbClr val="344454"/>
                </a:solidFill>
              </a:defRPr>
            </a:lvl8pPr>
            <a:lvl9pPr algn="l">
              <a:defRPr sz="22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344454"/>
                </a:solidFill>
              </a:defRPr>
            </a:pPr>
            <a:r>
              <a:rPr sz="2250" b="0">
                <a:solidFill>
                  <a:srgbClr val="344454"/>
                </a:solidFill>
              </a:rPr>
              <a:t>Given an engine’s sensor history up to today, how many operating cycles remain before simulated failure?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3D493-8A38-4530-8A95-6ED9C841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Learning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1639A-8DC9-4A26-A565-7A5D70EC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019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Supervised regression. One numerical RUL prediction is evaluated at the final observed cycle of each official test engine.</a:t>
            </a:r>
          </a:p>
        </p:txBody>
      </p:sp>
    </p:spTree>
    <p:extLst>
      <p:ext uri="{BB962C8B-B14F-4D97-AF65-F5344CB8AC3E}">
        <p14:creationId xmlns:p14="http://schemas.microsoft.com/office/powerpoint/2010/main" val="1343248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6C0D7-1B73-42B8-979B-38C3FDA5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Dataset and source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F357B-0FA9-41AB-8C20-96CA8FA3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Four subsets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845A-2947-4D6E-87CB-C7C421D1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FD001 and FD003: one operating condition</a:t>
            </a:r>
          </a:p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FD002 and FD004: six operating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788E1-82C6-4CC6-BAF7-FE309ECD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Each raw row has 26 numeric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B6802-E5D6-4AC2-BF3E-B2C705B9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Engine ID, cycle, 3 operating settings and 21 sensor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D0407-D3A1-4858-9B67-6C8EDCAF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Training trajectories reach failure. Test trajectories stop early. A separate RUL file supplies one answer per test engine.</a:t>
            </a:r>
          </a:p>
        </p:txBody>
      </p:sp>
    </p:spTree>
    <p:extLst>
      <p:ext uri="{BB962C8B-B14F-4D97-AF65-F5344CB8AC3E}">
        <p14:creationId xmlns:p14="http://schemas.microsoft.com/office/powerpoint/2010/main" val="87437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507B9-FE2F-4A0F-A46E-8DFC6C9B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Dataset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0EF6D-9B28-44F3-837C-1B61619E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C6365-B172-4DAC-8C8C-D7F944F2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Train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A38A7-7873-4E67-9F03-8E6C1C6D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192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Train 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DDA57-1C5B-4AB4-ACA4-FF62100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Test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E4FE5-55B4-4976-8AF2-31EE7CFE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72B42"/>
                </a:solidFill>
              </a:defRPr>
            </a:defPPr>
            <a:lvl1pPr algn="l">
              <a:defRPr sz="1725" b="1">
                <a:solidFill>
                  <a:srgbClr val="172B42"/>
                </a:solidFill>
              </a:defRPr>
            </a:lvl1pPr>
            <a:lvl2pPr algn="l">
              <a:defRPr sz="1725" b="1">
                <a:solidFill>
                  <a:srgbClr val="172B42"/>
                </a:solidFill>
              </a:defRPr>
            </a:lvl2pPr>
            <a:lvl3pPr algn="l">
              <a:defRPr sz="1725" b="1">
                <a:solidFill>
                  <a:srgbClr val="172B42"/>
                </a:solidFill>
              </a:defRPr>
            </a:lvl3pPr>
            <a:lvl4pPr algn="l">
              <a:defRPr sz="1725" b="1">
                <a:solidFill>
                  <a:srgbClr val="172B42"/>
                </a:solidFill>
              </a:defRPr>
            </a:lvl4pPr>
            <a:lvl5pPr algn="l">
              <a:defRPr sz="1725" b="1">
                <a:solidFill>
                  <a:srgbClr val="172B42"/>
                </a:solidFill>
              </a:defRPr>
            </a:lvl5pPr>
            <a:lvl6pPr algn="l">
              <a:defRPr sz="1725" b="1">
                <a:solidFill>
                  <a:srgbClr val="172B42"/>
                </a:solidFill>
              </a:defRPr>
            </a:lvl6pPr>
            <a:lvl7pPr algn="l">
              <a:defRPr sz="1725" b="1">
                <a:solidFill>
                  <a:srgbClr val="172B42"/>
                </a:solidFill>
              </a:defRPr>
            </a:lvl7pPr>
            <a:lvl8pPr algn="l">
              <a:defRPr sz="1725" b="1">
                <a:solidFill>
                  <a:srgbClr val="172B42"/>
                </a:solidFill>
              </a:defRPr>
            </a:lvl8pPr>
            <a:lvl9pPr algn="l">
              <a:defRPr sz="17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42"/>
                </a:solidFill>
              </a:defRPr>
            </a:pPr>
            <a:r>
              <a:rPr sz="1725" b="1">
                <a:solidFill>
                  <a:srgbClr val="172B42"/>
                </a:solidFill>
              </a:rPr>
              <a:t>Test engines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D033E-F479-4815-825A-2D1709BB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0FF56-33B4-4B30-AB3E-34A2EFB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20,631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F7F2D-F050-4A19-AECB-D2EB599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1D6EF-E52D-43CC-B66C-057CCD5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13,096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D8EDD-A1FF-4BC5-A33D-0B10CC1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D5926-0133-4B37-9A6C-E0D1E4BC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4064F-6E33-48C5-A163-7EC5AC69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24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53,759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8E0F8-2764-4C18-97DB-79F175C5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5DB2F-9D83-4B99-9D66-6048806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33,991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912EA-EF95-410F-BB42-A1FCEEF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242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D634B-0A00-4F54-BDDE-A1238AC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E0074-834C-401E-B18D-95439D0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67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24,720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6C63C-3DCC-4643-B034-150BC3EC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671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EAC0F-354A-42B7-B26C-E9F6FE7F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16,596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49A06-F1E2-4587-8A37-9336758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9CD59-2A46-475E-AE80-A07D564E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FD004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EEF0D-B662-4B1F-8D20-090FBC83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101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61,249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649E7-589E-4717-A5B2-3ABDEB3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249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55741-9B05-43AB-9909-605D56A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01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41,214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038BA-BC5D-4093-909B-94EF7560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10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DE67A-6FE3-4D64-B804-CD1F7CD5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The official test evaluates one endpoint per engine.</a:t>
            </a:r>
          </a:p>
        </p:txBody>
      </p:sp>
    </p:spTree>
    <p:extLst>
      <p:ext uri="{BB962C8B-B14F-4D97-AF65-F5344CB8AC3E}">
        <p14:creationId xmlns:p14="http://schemas.microsoft.com/office/powerpoint/2010/main" val="1955057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5B103-803A-4822-A04D-1996026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Exploratory data analysis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3E38B-607F-4038-BA14-1008B7FE8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850b43f014b2b"/>
          <a:stretch xmlns:a="http://schemas.openxmlformats.org/drawingml/2006/main"/>
        </p:blipFill>
        <p:spPr>
          <a:xfrm xmlns:a="http://schemas.openxmlformats.org/drawingml/2006/main">
            <a:off x="619125" y="1809750"/>
            <a:ext cx="7143750" cy="3810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8A256-A88B-4EE5-981D-AA0CFD14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1">
                <a:solidFill>
                  <a:srgbClr val="172B42"/>
                </a:solidFill>
              </a:defRPr>
            </a:defPPr>
            <a:lvl1pPr algn="l">
              <a:defRPr sz="1950" b="1">
                <a:solidFill>
                  <a:srgbClr val="172B42"/>
                </a:solidFill>
              </a:defRPr>
            </a:lvl1pPr>
            <a:lvl2pPr algn="l">
              <a:defRPr sz="1950" b="1">
                <a:solidFill>
                  <a:srgbClr val="172B42"/>
                </a:solidFill>
              </a:defRPr>
            </a:lvl2pPr>
            <a:lvl3pPr algn="l">
              <a:defRPr sz="1950" b="1">
                <a:solidFill>
                  <a:srgbClr val="172B42"/>
                </a:solidFill>
              </a:defRPr>
            </a:lvl3pPr>
            <a:lvl4pPr algn="l">
              <a:defRPr sz="1950" b="1">
                <a:solidFill>
                  <a:srgbClr val="172B42"/>
                </a:solidFill>
              </a:defRPr>
            </a:lvl4pPr>
            <a:lvl5pPr algn="l">
              <a:defRPr sz="1950" b="1">
                <a:solidFill>
                  <a:srgbClr val="172B42"/>
                </a:solidFill>
              </a:defRPr>
            </a:lvl5pPr>
            <a:lvl6pPr algn="l">
              <a:defRPr sz="1950" b="1">
                <a:solidFill>
                  <a:srgbClr val="172B42"/>
                </a:solidFill>
              </a:defRPr>
            </a:lvl6pPr>
            <a:lvl7pPr algn="l">
              <a:defRPr sz="1950" b="1">
                <a:solidFill>
                  <a:srgbClr val="172B42"/>
                </a:solidFill>
              </a:defRPr>
            </a:lvl7pPr>
            <a:lvl8pPr algn="l">
              <a:defRPr sz="1950" b="1">
                <a:solidFill>
                  <a:srgbClr val="172B42"/>
                </a:solidFill>
              </a:defRPr>
            </a:lvl8pPr>
            <a:lvl9pPr algn="l">
              <a:defRPr sz="19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B42"/>
                </a:solidFill>
              </a:defRPr>
            </a:pPr>
            <a:r>
              <a:rPr sz="1950" b="1">
                <a:solidFill>
                  <a:srgbClr val="172B42"/>
                </a:solidFill>
              </a:rPr>
              <a:t>Median training lifetime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9FF07-FCC9-4615-9207-DD561D81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238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FD001  199 cycles</a:t>
            </a:r>
          </a:p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FD002  199 cycles</a:t>
            </a:r>
          </a:p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FD003  220.5 cycles</a:t>
            </a:r>
          </a:p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FD004  234 cycles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A683A-1086-404C-A0BC-9A8B9A0A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3286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44454"/>
                </a:solidFill>
              </a:defRPr>
            </a:defPPr>
            <a:lvl1pPr algn="l">
              <a:defRPr sz="1500" b="0">
                <a:solidFill>
                  <a:srgbClr val="344454"/>
                </a:solidFill>
              </a:defRPr>
            </a:lvl1pPr>
            <a:lvl2pPr algn="l">
              <a:defRPr sz="1500" b="0">
                <a:solidFill>
                  <a:srgbClr val="344454"/>
                </a:solidFill>
              </a:defRPr>
            </a:lvl2pPr>
            <a:lvl3pPr algn="l">
              <a:defRPr sz="1500" b="0">
                <a:solidFill>
                  <a:srgbClr val="344454"/>
                </a:solidFill>
              </a:defRPr>
            </a:lvl3pPr>
            <a:lvl4pPr algn="l">
              <a:defRPr sz="1500" b="0">
                <a:solidFill>
                  <a:srgbClr val="344454"/>
                </a:solidFill>
              </a:defRPr>
            </a:lvl4pPr>
            <a:lvl5pPr algn="l">
              <a:defRPr sz="1500" b="0">
                <a:solidFill>
                  <a:srgbClr val="344454"/>
                </a:solidFill>
              </a:defRPr>
            </a:lvl5pPr>
            <a:lvl6pPr algn="l">
              <a:defRPr sz="1500" b="0">
                <a:solidFill>
                  <a:srgbClr val="344454"/>
                </a:solidFill>
              </a:defRPr>
            </a:lvl6pPr>
            <a:lvl7pPr algn="l">
              <a:defRPr sz="1500" b="0">
                <a:solidFill>
                  <a:srgbClr val="344454"/>
                </a:solidFill>
              </a:defRPr>
            </a:lvl7pPr>
            <a:lvl8pPr algn="l">
              <a:defRPr sz="1500" b="0">
                <a:solidFill>
                  <a:srgbClr val="344454"/>
                </a:solidFill>
              </a:defRPr>
            </a:lvl8pPr>
            <a:lvl9pPr algn="l">
              <a:defRPr sz="15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Lifetime varies by engine, so rows from the same engine stay together during validation.</a:t>
            </a:r>
          </a:p>
        </p:txBody>
      </p:sp>
    </p:spTree>
    <p:extLst>
      <p:ext uri="{BB962C8B-B14F-4D97-AF65-F5344CB8AC3E}">
        <p14:creationId xmlns:p14="http://schemas.microsoft.com/office/powerpoint/2010/main" val="401414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8280F-0C3E-45E1-8565-820CC30B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Preprocessing and feature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36632-5EC9-40C1-8F3F-BF9B9F5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E8B1F-1D87-4A38-95A9-815F5674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Numeric types, missing values, duplicates and engine-cycle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F223A-124D-4237-A2CB-964C57D8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Training RUL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98353-D773-4A9D-BA20-AD64F0D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Final training cycle minus current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E5246-6E81-47D9-850F-DD76BAB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Predictors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16BB6-42F2-4E7F-8F2B-22302D3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Cycle, operating settings, retained sensors, one-cycle changes and five-cycle rolling means. Temporal features use current and earlier cycles only.</a:t>
            </a:r>
          </a:p>
        </p:txBody>
      </p:sp>
    </p:spTree>
    <p:extLst>
      <p:ext uri="{BB962C8B-B14F-4D97-AF65-F5344CB8AC3E}">
        <p14:creationId xmlns:p14="http://schemas.microsoft.com/office/powerpoint/2010/main" val="485067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41E1F-7026-407F-BC3E-3596F4A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Model selection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1D9FA-4CA3-4E43-BE26-EE43B03C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1  Hold out 20% of training engines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2517A-72C5-40F7-B7C9-000443E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2  Predict one partial-history endpoint per held-out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5E168-9F3A-4171-A204-E919B84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3  Select the lowest validation RMSE within each subset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A336A-782B-4435-8441-E6CA772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4  Refit the selected model on all training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323F3-BB21-45DE-920D-8CCB176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5  Evaluate once at official test endpoints</a:t>
            </a:r>
          </a:p>
        </p:txBody>
      </p:sp>
    </p:spTree>
    <p:extLst>
      <p:ext uri="{BB962C8B-B14F-4D97-AF65-F5344CB8AC3E}">
        <p14:creationId xmlns:p14="http://schemas.microsoft.com/office/powerpoint/2010/main" val="920484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52FCE-C383-4A9D-A17D-20853963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Models compared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64A4E-A507-4071-B8AA-2F8BBE5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525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Median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E2080-760B-46F0-AC02-F1C76D95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Constant median RUL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647CB-572A-44B5-A718-3C05E204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Ridge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CD9F5-4F52-4AE1-95AF-C4030C0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Regularized linear model with training-only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1BC83-D621-415E-9C4C-A5EC846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E2D0E-A608-4697-94F1-AF3289B8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80 regression trees with averaging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EBA9A-4C39-472B-857C-A1676498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244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B42"/>
                </a:solidFill>
              </a:defRPr>
            </a:defPPr>
            <a:lvl1pPr algn="l">
              <a:defRPr sz="2100" b="1">
                <a:solidFill>
                  <a:srgbClr val="172B42"/>
                </a:solidFill>
              </a:defRPr>
            </a:lvl1pPr>
            <a:lvl2pPr algn="l">
              <a:defRPr sz="2100" b="1">
                <a:solidFill>
                  <a:srgbClr val="172B42"/>
                </a:solidFill>
              </a:defRPr>
            </a:lvl2pPr>
            <a:lvl3pPr algn="l">
              <a:defRPr sz="2100" b="1">
                <a:solidFill>
                  <a:srgbClr val="172B42"/>
                </a:solidFill>
              </a:defRPr>
            </a:lvl3pPr>
            <a:lvl4pPr algn="l">
              <a:defRPr sz="2100" b="1">
                <a:solidFill>
                  <a:srgbClr val="172B42"/>
                </a:solidFill>
              </a:defRPr>
            </a:lvl4pPr>
            <a:lvl5pPr algn="l">
              <a:defRPr sz="2100" b="1">
                <a:solidFill>
                  <a:srgbClr val="172B42"/>
                </a:solidFill>
              </a:defRPr>
            </a:lvl5pPr>
            <a:lvl6pPr algn="l">
              <a:defRPr sz="2100" b="1">
                <a:solidFill>
                  <a:srgbClr val="172B42"/>
                </a:solidFill>
              </a:defRPr>
            </a:lvl6pPr>
            <a:lvl7pPr algn="l">
              <a:defRPr sz="2100" b="1">
                <a:solidFill>
                  <a:srgbClr val="172B42"/>
                </a:solidFill>
              </a:defRPr>
            </a:lvl7pPr>
            <a:lvl8pPr algn="l">
              <a:defRPr sz="2100" b="1">
                <a:solidFill>
                  <a:srgbClr val="172B42"/>
                </a:solidFill>
              </a:defRPr>
            </a:lvl8pPr>
            <a:lvl9pPr algn="l">
              <a:defRPr sz="21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42"/>
                </a:solidFill>
              </a:defRPr>
            </a:pPr>
            <a:r>
              <a:rPr sz="2100" b="1">
                <a:solidFill>
                  <a:srgbClr val="172B42"/>
                </a:solidFill>
              </a:rPr>
              <a:t>Histogram Gradient Boosting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4CBE2-3A78-4B62-96A6-AAD6B89E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Sequential regression trees, 150 iterations</a:t>
            </a:r>
          </a:p>
        </p:txBody>
      </p:sp>
    </p:spTree>
    <p:extLst>
      <p:ext uri="{BB962C8B-B14F-4D97-AF65-F5344CB8AC3E}">
        <p14:creationId xmlns:p14="http://schemas.microsoft.com/office/powerpoint/2010/main" val="1016181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304FE-5133-4230-B561-7A9AA561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Validation RMSE and selected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44415-1BF9-4E30-AB2E-A939503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880E2-AAF7-4B31-932D-2280A52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Median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CF16D-1654-4B65-BDD1-083A14F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C16ED-C787-4B75-9ED3-DF8CC07E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Forest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A8F92-5298-4B1E-AF04-92F4C13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43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Boosting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9095F-E428-4F1D-BF57-DD832A29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Selected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C206A-6D5D-4633-B8F2-6B3C908C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35FB4-A3A6-4393-AAAC-331FF80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47.51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13E5B-DA64-433F-9220-19D9EC4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32.93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BB920-73CE-4558-BB9E-4235E68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27.17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24BD2-3FD1-47CD-89D5-BD4FDB36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526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27.31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F54AB-55D1-47F8-A016-EF288F6A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3526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FE6C2-5473-4801-BB2F-CBF45B80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EDB2E-4D44-4A36-B9A2-B60BFF2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47.55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E3F70-4043-408C-A306-43B4FF8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41.37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F73AA-DD3C-4A9D-949A-F6F8DBC6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33.14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20D87-2A51-4E62-A011-B715867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765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32.16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CA934-2012-491D-A369-1BBF25B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765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Boosting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04DED-14FF-4CCF-89A0-2EF3424C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2A96A-61B2-4D8C-914F-4E036CB5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67.43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7D369-4585-458A-A833-D84CB5FA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53.09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5996B-99AF-4A4E-BEEC-06616D8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28.13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D2C36-206C-4ED1-8438-24B54129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004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24.87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DCCBF-AE50-4D23-A869-52B6682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004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Boosting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82CAE-D5BB-4B13-8B34-3EA7A17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266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FD004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046297-9B99-4856-AD4E-651DD69E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58.79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A9A2B-0BD3-4F0C-BCA1-08716143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56.47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B5BABA-5F7F-479D-A22B-C525E08E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45.38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B09E88-383F-49B1-A071-A802BBDD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2437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45.19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11BB28-3C3F-4C7B-B4C6-1EC2804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243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Boosting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9AAC6-0CC7-462E-9CDB-D1BAE92B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The FD001 forest lead is only 0.14 cycles; FD004’s boosting lead is about 0.19 cycles.</a:t>
            </a:r>
          </a:p>
        </p:txBody>
      </p:sp>
    </p:spTree>
    <p:extLst>
      <p:ext uri="{BB962C8B-B14F-4D97-AF65-F5344CB8AC3E}">
        <p14:creationId xmlns:p14="http://schemas.microsoft.com/office/powerpoint/2010/main" val="1501748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5E81E-6BD8-4763-8059-5763BE08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Official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74511-66D4-492C-8D5C-30234CE7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4729E-812C-4238-BD4A-14957EA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43050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Selected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68F3A-F469-4339-8BB7-5C36C859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43050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2A84-3EB4-4321-9A2A-FF3F9F91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43050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80083-EEA7-4A8B-BD6C-89F3AF8E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43050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B42"/>
                </a:solidFill>
              </a:defRPr>
            </a:defPPr>
            <a:lvl1pPr algn="l">
              <a:defRPr sz="1650" b="1">
                <a:solidFill>
                  <a:srgbClr val="172B42"/>
                </a:solidFill>
              </a:defRPr>
            </a:lvl1pPr>
            <a:lvl2pPr algn="l">
              <a:defRPr sz="1650" b="1">
                <a:solidFill>
                  <a:srgbClr val="172B42"/>
                </a:solidFill>
              </a:defRPr>
            </a:lvl2pPr>
            <a:lvl3pPr algn="l">
              <a:defRPr sz="1650" b="1">
                <a:solidFill>
                  <a:srgbClr val="172B42"/>
                </a:solidFill>
              </a:defRPr>
            </a:lvl3pPr>
            <a:lvl4pPr algn="l">
              <a:defRPr sz="1650" b="1">
                <a:solidFill>
                  <a:srgbClr val="172B42"/>
                </a:solidFill>
              </a:defRPr>
            </a:lvl4pPr>
            <a:lvl5pPr algn="l">
              <a:defRPr sz="1650" b="1">
                <a:solidFill>
                  <a:srgbClr val="172B42"/>
                </a:solidFill>
              </a:defRPr>
            </a:lvl5pPr>
            <a:lvl6pPr algn="l">
              <a:defRPr sz="1650" b="1">
                <a:solidFill>
                  <a:srgbClr val="172B42"/>
                </a:solidFill>
              </a:defRPr>
            </a:lvl6pPr>
            <a:lvl7pPr algn="l">
              <a:defRPr sz="1650" b="1">
                <a:solidFill>
                  <a:srgbClr val="172B42"/>
                </a:solidFill>
              </a:defRPr>
            </a:lvl7pPr>
            <a:lvl8pPr algn="l">
              <a:defRPr sz="1650" b="1">
                <a:solidFill>
                  <a:srgbClr val="172B42"/>
                </a:solidFill>
              </a:defRPr>
            </a:lvl8pPr>
            <a:lvl9pPr algn="l">
              <a:defRPr sz="165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B42"/>
                </a:solidFill>
              </a:defRPr>
            </a:pPr>
            <a:r>
              <a:rPr sz="1650" b="1">
                <a:solidFill>
                  <a:srgbClr val="172B42"/>
                </a:solidFill>
              </a:rPr>
              <a:t>R²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1D47D-DDE7-4129-BBF3-710B89B7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F0EAB-7C12-42A9-B3CA-8CAC9BE7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526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8F68A-205A-4803-89EE-72E5E61F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526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21.21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4C663-87F4-4669-8BFA-E90CDBF5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526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28.68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10F64-0729-4F32-8835-262BBB2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526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AAF48-A236-46F6-967D-E7936651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75A03-9C1D-41F8-9C5C-FEA9D3F1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765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Histogram Gradient Boosting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6F99-F553-4306-8D4C-81674EA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765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20.27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E00F1-F4FD-4314-924B-BE733B69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765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27.66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2C78D-8F06-4284-85C9-0B5216B5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765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E7AA9-FD11-48BA-B730-0BADAE3C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E8C97-BC6D-4AA3-A756-BDEDD084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004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Histogram Gradient Boosting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0B3BE-64EB-4292-8A1B-52F9F9F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004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23.89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EFFD6-5478-4759-A9B1-DC82BC75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004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34.81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BCFF7-6BCF-4AD4-9D0E-E6A52EB0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004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C25F8-9157-46C1-8DC5-FB15195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D4CD1-C6BE-477A-86B0-B7FFF1D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24375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344454"/>
                </a:solidFill>
              </a:defRPr>
            </a:defPPr>
            <a:lvl1pPr algn="l">
              <a:defRPr sz="1575" b="0">
                <a:solidFill>
                  <a:srgbClr val="344454"/>
                </a:solidFill>
              </a:defRPr>
            </a:lvl1pPr>
            <a:lvl2pPr algn="l">
              <a:defRPr sz="1575" b="0">
                <a:solidFill>
                  <a:srgbClr val="344454"/>
                </a:solidFill>
              </a:defRPr>
            </a:lvl2pPr>
            <a:lvl3pPr algn="l">
              <a:defRPr sz="1575" b="0">
                <a:solidFill>
                  <a:srgbClr val="344454"/>
                </a:solidFill>
              </a:defRPr>
            </a:lvl3pPr>
            <a:lvl4pPr algn="l">
              <a:defRPr sz="1575" b="0">
                <a:solidFill>
                  <a:srgbClr val="344454"/>
                </a:solidFill>
              </a:defRPr>
            </a:lvl4pPr>
            <a:lvl5pPr algn="l">
              <a:defRPr sz="1575" b="0">
                <a:solidFill>
                  <a:srgbClr val="344454"/>
                </a:solidFill>
              </a:defRPr>
            </a:lvl5pPr>
            <a:lvl6pPr algn="l">
              <a:defRPr sz="1575" b="0">
                <a:solidFill>
                  <a:srgbClr val="344454"/>
                </a:solidFill>
              </a:defRPr>
            </a:lvl6pPr>
            <a:lvl7pPr algn="l">
              <a:defRPr sz="1575" b="0">
                <a:solidFill>
                  <a:srgbClr val="344454"/>
                </a:solidFill>
              </a:defRPr>
            </a:lvl7pPr>
            <a:lvl8pPr algn="l">
              <a:defRPr sz="1575" b="0">
                <a:solidFill>
                  <a:srgbClr val="344454"/>
                </a:solidFill>
              </a:defRPr>
            </a:lvl8pPr>
            <a:lvl9pPr algn="l">
              <a:defRPr sz="15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44454"/>
                </a:solidFill>
              </a:defRPr>
            </a:pPr>
            <a:r>
              <a:rPr sz="1575" b="0">
                <a:solidFill>
                  <a:srgbClr val="344454"/>
                </a:solidFill>
              </a:rPr>
              <a:t>Histogram Gradient Boosting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DC989-C83B-4602-84AD-2D572BC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243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27.72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8B8AD-C402-45F9-A46A-41818BD4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24375"/>
            <a:ext cx="1362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38.50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9533F-FCED-4C2F-9855-44B4F62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24375"/>
            <a:ext cx="112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0.50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D562C-B8A4-4DFE-8640-72BD5D8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These scores describe simulated benchmark engines, not a maintenance-ready system.</a:t>
            </a:r>
          </a:p>
        </p:txBody>
      </p:sp>
    </p:spTree>
    <p:extLst>
      <p:ext uri="{BB962C8B-B14F-4D97-AF65-F5344CB8AC3E}">
        <p14:creationId xmlns:p14="http://schemas.microsoft.com/office/powerpoint/2010/main" val="6374293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9A89A-5E73-491E-BAA7-8F7AFEC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FD001 and FD002 prediction plots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508AB-C0DF-4155-B153-EEB638D85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cebd8d6c7415e"/>
          <a:stretch xmlns:a="http://schemas.openxmlformats.org/drawingml/2006/main"/>
        </p:blipFill>
        <p:spPr>
          <a:xfrm xmlns:a="http://schemas.openxmlformats.org/drawingml/2006/main">
            <a:off x="909638" y="1381125"/>
            <a:ext cx="4619625" cy="461962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05012-3094-4F7A-9EB1-CC6C25783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4c978305c4ff8"/>
          <a:stretch xmlns:a="http://schemas.openxmlformats.org/drawingml/2006/main"/>
        </p:blipFill>
        <p:spPr>
          <a:xfrm xmlns:a="http://schemas.openxmlformats.org/drawingml/2006/main">
            <a:off x="6662738" y="1381125"/>
            <a:ext cx="4619625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A1D84-F0DB-4B78-A5DB-8D2601B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BFB68-6BA5-44CF-B5BC-0048598A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FD002</a:t>
            </a:r>
          </a:p>
        </p:txBody>
      </p:sp>
    </p:spTree>
    <p:extLst>
      <p:ext uri="{BB962C8B-B14F-4D97-AF65-F5344CB8AC3E}">
        <p14:creationId xmlns:p14="http://schemas.microsoft.com/office/powerpoint/2010/main" val="3653488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3B60E-6547-45DB-9AE8-DC67E2CA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FD003 and FD004 prediction plots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2E6EC-8D94-4CAF-9631-7057888678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616ece7e74303"/>
          <a:stretch xmlns:a="http://schemas.openxmlformats.org/drawingml/2006/main"/>
        </p:blipFill>
        <p:spPr>
          <a:xfrm xmlns:a="http://schemas.openxmlformats.org/drawingml/2006/main">
            <a:off x="909638" y="1381125"/>
            <a:ext cx="4619625" cy="461962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B9C0-B934-4A78-BEDD-199D52C03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4bf6adc8941d3"/>
          <a:stretch xmlns:a="http://schemas.openxmlformats.org/drawingml/2006/main"/>
        </p:blipFill>
        <p:spPr>
          <a:xfrm xmlns:a="http://schemas.openxmlformats.org/drawingml/2006/main">
            <a:off x="6662738" y="1381125"/>
            <a:ext cx="4619625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687E8-1FBE-4D05-B4C3-CB1962D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13157-B76B-4335-8C4D-22443AC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48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72B42"/>
                </a:solidFill>
              </a:defRPr>
            </a:defPPr>
            <a:lvl1pPr algn="l">
              <a:defRPr sz="1575" b="1">
                <a:solidFill>
                  <a:srgbClr val="172B42"/>
                </a:solidFill>
              </a:defRPr>
            </a:lvl1pPr>
            <a:lvl2pPr algn="l">
              <a:defRPr sz="1575" b="1">
                <a:solidFill>
                  <a:srgbClr val="172B42"/>
                </a:solidFill>
              </a:defRPr>
            </a:lvl2pPr>
            <a:lvl3pPr algn="l">
              <a:defRPr sz="1575" b="1">
                <a:solidFill>
                  <a:srgbClr val="172B42"/>
                </a:solidFill>
              </a:defRPr>
            </a:lvl3pPr>
            <a:lvl4pPr algn="l">
              <a:defRPr sz="1575" b="1">
                <a:solidFill>
                  <a:srgbClr val="172B42"/>
                </a:solidFill>
              </a:defRPr>
            </a:lvl4pPr>
            <a:lvl5pPr algn="l">
              <a:defRPr sz="1575" b="1">
                <a:solidFill>
                  <a:srgbClr val="172B42"/>
                </a:solidFill>
              </a:defRPr>
            </a:lvl5pPr>
            <a:lvl6pPr algn="l">
              <a:defRPr sz="1575" b="1">
                <a:solidFill>
                  <a:srgbClr val="172B42"/>
                </a:solidFill>
              </a:defRPr>
            </a:lvl6pPr>
            <a:lvl7pPr algn="l">
              <a:defRPr sz="1575" b="1">
                <a:solidFill>
                  <a:srgbClr val="172B42"/>
                </a:solidFill>
              </a:defRPr>
            </a:lvl7pPr>
            <a:lvl8pPr algn="l">
              <a:defRPr sz="1575" b="1">
                <a:solidFill>
                  <a:srgbClr val="172B42"/>
                </a:solidFill>
              </a:defRPr>
            </a:lvl8pPr>
            <a:lvl9pPr algn="l">
              <a:defRPr sz="15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B42"/>
                </a:solidFill>
              </a:defRPr>
            </a:pPr>
            <a:r>
              <a:rPr sz="1575" b="1">
                <a:solidFill>
                  <a:srgbClr val="172B42"/>
                </a:solidFill>
              </a:rPr>
              <a:t>FD004</a:t>
            </a:r>
          </a:p>
        </p:txBody>
      </p:sp>
    </p:spTree>
    <p:extLst>
      <p:ext uri="{BB962C8B-B14F-4D97-AF65-F5344CB8AC3E}">
        <p14:creationId xmlns:p14="http://schemas.microsoft.com/office/powerpoint/2010/main" val="8695505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85EEA-EF24-4C0C-A2C8-0395C6D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Error direction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C2B4-DF62-4F61-9B7D-AC8EFBF40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08d0c2c8b4abf"/>
          <a:stretch xmlns:a="http://schemas.openxmlformats.org/drawingml/2006/main"/>
        </p:blipFill>
        <p:spPr>
          <a:xfrm xmlns:a="http://schemas.openxmlformats.org/drawingml/2006/main">
            <a:off x="571500" y="1566863"/>
            <a:ext cx="7239000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3CF82-26CF-4705-ACA8-BCFD480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72B42"/>
                </a:solidFill>
              </a:defRPr>
            </a:defPPr>
            <a:lvl1pPr algn="l">
              <a:defRPr sz="1875" b="1">
                <a:solidFill>
                  <a:srgbClr val="172B42"/>
                </a:solidFill>
              </a:defRPr>
            </a:lvl1pPr>
            <a:lvl2pPr algn="l">
              <a:defRPr sz="1875" b="1">
                <a:solidFill>
                  <a:srgbClr val="172B42"/>
                </a:solidFill>
              </a:defRPr>
            </a:lvl2pPr>
            <a:lvl3pPr algn="l">
              <a:defRPr sz="1875" b="1">
                <a:solidFill>
                  <a:srgbClr val="172B42"/>
                </a:solidFill>
              </a:defRPr>
            </a:lvl3pPr>
            <a:lvl4pPr algn="l">
              <a:defRPr sz="1875" b="1">
                <a:solidFill>
                  <a:srgbClr val="172B42"/>
                </a:solidFill>
              </a:defRPr>
            </a:lvl4pPr>
            <a:lvl5pPr algn="l">
              <a:defRPr sz="1875" b="1">
                <a:solidFill>
                  <a:srgbClr val="172B42"/>
                </a:solidFill>
              </a:defRPr>
            </a:lvl5pPr>
            <a:lvl6pPr algn="l">
              <a:defRPr sz="1875" b="1">
                <a:solidFill>
                  <a:srgbClr val="172B42"/>
                </a:solidFill>
              </a:defRPr>
            </a:lvl6pPr>
            <a:lvl7pPr algn="l">
              <a:defRPr sz="1875" b="1">
                <a:solidFill>
                  <a:srgbClr val="172B42"/>
                </a:solidFill>
              </a:defRPr>
            </a:lvl7pPr>
            <a:lvl8pPr algn="l">
              <a:defRPr sz="1875" b="1">
                <a:solidFill>
                  <a:srgbClr val="172B42"/>
                </a:solidFill>
              </a:defRPr>
            </a:lvl8pPr>
            <a:lvl9pPr algn="l">
              <a:defRPr sz="187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B42"/>
                </a:solidFill>
              </a:defRPr>
            </a:pPr>
            <a:r>
              <a:rPr sz="1875" b="1">
                <a:solidFill>
                  <a:srgbClr val="172B42"/>
                </a:solidFill>
              </a:rPr>
              <a:t>Engines with overestimated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95285-3A44-4A65-B70C-5923F876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344454"/>
                </a:solidFill>
              </a:defRPr>
            </a:defPPr>
            <a:lvl1pPr algn="l">
              <a:defRPr sz="1725" b="0">
                <a:solidFill>
                  <a:srgbClr val="344454"/>
                </a:solidFill>
              </a:defRPr>
            </a:lvl1pPr>
            <a:lvl2pPr algn="l">
              <a:defRPr sz="1725" b="0">
                <a:solidFill>
                  <a:srgbClr val="344454"/>
                </a:solidFill>
              </a:defRPr>
            </a:lvl2pPr>
            <a:lvl3pPr algn="l">
              <a:defRPr sz="1725" b="0">
                <a:solidFill>
                  <a:srgbClr val="344454"/>
                </a:solidFill>
              </a:defRPr>
            </a:lvl3pPr>
            <a:lvl4pPr algn="l">
              <a:defRPr sz="1725" b="0">
                <a:solidFill>
                  <a:srgbClr val="344454"/>
                </a:solidFill>
              </a:defRPr>
            </a:lvl4pPr>
            <a:lvl5pPr algn="l">
              <a:defRPr sz="1725" b="0">
                <a:solidFill>
                  <a:srgbClr val="344454"/>
                </a:solidFill>
              </a:defRPr>
            </a:lvl5pPr>
            <a:lvl6pPr algn="l">
              <a:defRPr sz="1725" b="0">
                <a:solidFill>
                  <a:srgbClr val="344454"/>
                </a:solidFill>
              </a:defRPr>
            </a:lvl6pPr>
            <a:lvl7pPr algn="l">
              <a:defRPr sz="1725" b="0">
                <a:solidFill>
                  <a:srgbClr val="344454"/>
                </a:solidFill>
              </a:defRPr>
            </a:lvl7pPr>
            <a:lvl8pPr algn="l">
              <a:defRPr sz="1725" b="0">
                <a:solidFill>
                  <a:srgbClr val="344454"/>
                </a:solidFill>
              </a:defRPr>
            </a:lvl8pPr>
            <a:lvl9pPr algn="l">
              <a:defRPr sz="172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FD001  65 / 100</a:t>
            </a:r>
          </a:p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FD002  150 / 259</a:t>
            </a:r>
          </a:p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FD003  76 / 100</a:t>
            </a:r>
          </a:p>
          <a:p xmlns:a="http://schemas.openxmlformats.org/drawingml/2006/main">
            <a:pPr algn="l">
              <a:defRPr sz="1725" b="0">
                <a:solidFill>
                  <a:srgbClr val="344454"/>
                </a:solidFill>
              </a:defRPr>
            </a:pPr>
            <a:r>
              <a:rPr sz="1725" b="0">
                <a:solidFill>
                  <a:srgbClr val="344454"/>
                </a:solidFill>
              </a:rPr>
              <a:t>FD004  175 / 248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1E4C2-AD3F-4B95-A003-3638E1F0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344454"/>
                </a:solidFill>
              </a:defRPr>
            </a:defPPr>
            <a:lvl1pPr algn="l">
              <a:defRPr sz="1500" b="0">
                <a:solidFill>
                  <a:srgbClr val="344454"/>
                </a:solidFill>
              </a:defRPr>
            </a:lvl1pPr>
            <a:lvl2pPr algn="l">
              <a:defRPr sz="1500" b="0">
                <a:solidFill>
                  <a:srgbClr val="344454"/>
                </a:solidFill>
              </a:defRPr>
            </a:lvl2pPr>
            <a:lvl3pPr algn="l">
              <a:defRPr sz="1500" b="0">
                <a:solidFill>
                  <a:srgbClr val="344454"/>
                </a:solidFill>
              </a:defRPr>
            </a:lvl3pPr>
            <a:lvl4pPr algn="l">
              <a:defRPr sz="1500" b="0">
                <a:solidFill>
                  <a:srgbClr val="344454"/>
                </a:solidFill>
              </a:defRPr>
            </a:lvl4pPr>
            <a:lvl5pPr algn="l">
              <a:defRPr sz="1500" b="0">
                <a:solidFill>
                  <a:srgbClr val="344454"/>
                </a:solidFill>
              </a:defRPr>
            </a:lvl5pPr>
            <a:lvl6pPr algn="l">
              <a:defRPr sz="1500" b="0">
                <a:solidFill>
                  <a:srgbClr val="344454"/>
                </a:solidFill>
              </a:defRPr>
            </a:lvl6pPr>
            <a:lvl7pPr algn="l">
              <a:defRPr sz="1500" b="0">
                <a:solidFill>
                  <a:srgbClr val="344454"/>
                </a:solidFill>
              </a:defRPr>
            </a:lvl7pPr>
            <a:lvl8pPr algn="l">
              <a:defRPr sz="1500" b="0">
                <a:solidFill>
                  <a:srgbClr val="344454"/>
                </a:solidFill>
              </a:defRPr>
            </a:lvl8pPr>
            <a:lvl9pPr algn="l">
              <a:defRPr sz="15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44454"/>
                </a:solidFill>
              </a:defRPr>
            </a:pPr>
            <a:r>
              <a:rPr sz="1500" b="0">
                <a:solidFill>
                  <a:srgbClr val="344454"/>
                </a:solidFill>
              </a:rPr>
              <a:t>Late predictions would matter most in a maintenance setting.</a:t>
            </a:r>
          </a:p>
        </p:txBody>
      </p:sp>
    </p:spTree>
    <p:extLst>
      <p:ext uri="{BB962C8B-B14F-4D97-AF65-F5344CB8AC3E}">
        <p14:creationId xmlns:p14="http://schemas.microsoft.com/office/powerpoint/2010/main" val="187519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8EBDF-BBA5-4C68-B5D1-FD14131A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Robustness audit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8917C-D844-49EC-BEE4-9DBE13F2C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04beb86ef4d08"/>
          <a:stretch xmlns:a="http://schemas.openxmlformats.org/drawingml/2006/main"/>
        </p:blipFill>
        <p:spPr>
          <a:xfrm xmlns:a="http://schemas.openxmlformats.org/drawingml/2006/main">
            <a:off x="809625" y="1428750"/>
            <a:ext cx="6667500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4620D-BD4E-453A-952F-CA5BED67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47875"/>
            <a:ext cx="3381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2B42"/>
                </a:solidFill>
              </a:defRPr>
            </a:defPPr>
            <a:lvl1pPr algn="l">
              <a:defRPr sz="1800" b="1">
                <a:solidFill>
                  <a:srgbClr val="172B42"/>
                </a:solidFill>
              </a:defRPr>
            </a:lvl1pPr>
            <a:lvl2pPr algn="l">
              <a:defRPr sz="1800" b="1">
                <a:solidFill>
                  <a:srgbClr val="172B42"/>
                </a:solidFill>
              </a:defRPr>
            </a:lvl2pPr>
            <a:lvl3pPr algn="l">
              <a:defRPr sz="1800" b="1">
                <a:solidFill>
                  <a:srgbClr val="172B42"/>
                </a:solidFill>
              </a:defRPr>
            </a:lvl3pPr>
            <a:lvl4pPr algn="l">
              <a:defRPr sz="1800" b="1">
                <a:solidFill>
                  <a:srgbClr val="172B42"/>
                </a:solidFill>
              </a:defRPr>
            </a:lvl4pPr>
            <a:lvl5pPr algn="l">
              <a:defRPr sz="1800" b="1">
                <a:solidFill>
                  <a:srgbClr val="172B42"/>
                </a:solidFill>
              </a:defRPr>
            </a:lvl5pPr>
            <a:lvl6pPr algn="l">
              <a:defRPr sz="1800" b="1">
                <a:solidFill>
                  <a:srgbClr val="172B42"/>
                </a:solidFill>
              </a:defRPr>
            </a:lvl6pPr>
            <a:lvl7pPr algn="l">
              <a:defRPr sz="1800" b="1">
                <a:solidFill>
                  <a:srgbClr val="172B42"/>
                </a:solidFill>
              </a:defRPr>
            </a:lvl7pPr>
            <a:lvl8pPr algn="l">
              <a:defRPr sz="1800" b="1">
                <a:solidFill>
                  <a:srgbClr val="172B42"/>
                </a:solidFill>
              </a:defRPr>
            </a:lvl8pPr>
            <a:lvl9pPr algn="l">
              <a:defRPr sz="1800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42"/>
                </a:solidFill>
              </a:defRPr>
            </a:pPr>
            <a:r>
              <a:rPr sz="1800" b="1">
                <a:solidFill>
                  <a:srgbClr val="172B42"/>
                </a:solidFill>
              </a:rPr>
              <a:t>FD002 and FD004 change mean-RMSE leader in this later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81D8D-974F-47DC-A079-6C8E51B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Three repetitions show sensitivity. They do not provide a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3161111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58497-E1AC-427A-9B36-24F3DB9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Research context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495BB-9C19-4E9D-B8DE-3B29078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Literature survey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41BCE-B86E-4980-9AD6-F0C7CCC5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13 studies cover benchmark design, deep sequence models, feature engineering, uncertainty and explainability.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01DD0-4298-434F-85F6-BB5CD9B6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What our results cannot establish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149ED-38EE-4D2C-9EF7-236E476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477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344454"/>
                </a:solidFill>
              </a:defRPr>
            </a:defPPr>
            <a:lvl1pPr algn="l">
              <a:defRPr sz="1800" b="0">
                <a:solidFill>
                  <a:srgbClr val="344454"/>
                </a:solidFill>
              </a:defRPr>
            </a:lvl1pPr>
            <a:lvl2pPr algn="l">
              <a:defRPr sz="1800" b="0">
                <a:solidFill>
                  <a:srgbClr val="344454"/>
                </a:solidFill>
              </a:defRPr>
            </a:lvl2pPr>
            <a:lvl3pPr algn="l">
              <a:defRPr sz="1800" b="0">
                <a:solidFill>
                  <a:srgbClr val="344454"/>
                </a:solidFill>
              </a:defRPr>
            </a:lvl3pPr>
            <a:lvl4pPr algn="l">
              <a:defRPr sz="1800" b="0">
                <a:solidFill>
                  <a:srgbClr val="344454"/>
                </a:solidFill>
              </a:defRPr>
            </a:lvl4pPr>
            <a:lvl5pPr algn="l">
              <a:defRPr sz="1800" b="0">
                <a:solidFill>
                  <a:srgbClr val="344454"/>
                </a:solidFill>
              </a:defRPr>
            </a:lvl5pPr>
            <a:lvl6pPr algn="l">
              <a:defRPr sz="1800" b="0">
                <a:solidFill>
                  <a:srgbClr val="344454"/>
                </a:solidFill>
              </a:defRPr>
            </a:lvl6pPr>
            <a:lvl7pPr algn="l">
              <a:defRPr sz="1800" b="0">
                <a:solidFill>
                  <a:srgbClr val="344454"/>
                </a:solidFill>
              </a:defRPr>
            </a:lvl7pPr>
            <a:lvl8pPr algn="l">
              <a:defRPr sz="1800" b="0">
                <a:solidFill>
                  <a:srgbClr val="344454"/>
                </a:solidFill>
              </a:defRPr>
            </a:lvl8pPr>
            <a:lvl9pPr algn="l">
              <a:defRPr sz="180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44454"/>
                </a:solidFill>
              </a:defRPr>
            </a:pPr>
            <a:r>
              <a:rPr sz="1800" b="0">
                <a:solidFill>
                  <a:srgbClr val="344454"/>
                </a:solidFill>
              </a:rPr>
              <a:t>Published scores use different targets and protocols. C-MAPSS is simulated. One original validation split and frequent overestimation limit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B86EB-D1BC-4B3D-B7F3-BBA26F30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5A6875"/>
                </a:solidFill>
              </a:defRPr>
            </a:defPPr>
            <a:lvl1pPr algn="l">
              <a:defRPr sz="1575" b="0">
                <a:solidFill>
                  <a:srgbClr val="5A6875"/>
                </a:solidFill>
              </a:defRPr>
            </a:lvl1pPr>
            <a:lvl2pPr algn="l">
              <a:defRPr sz="1575" b="0">
                <a:solidFill>
                  <a:srgbClr val="5A6875"/>
                </a:solidFill>
              </a:defRPr>
            </a:lvl2pPr>
            <a:lvl3pPr algn="l">
              <a:defRPr sz="1575" b="0">
                <a:solidFill>
                  <a:srgbClr val="5A6875"/>
                </a:solidFill>
              </a:defRPr>
            </a:lvl3pPr>
            <a:lvl4pPr algn="l">
              <a:defRPr sz="1575" b="0">
                <a:solidFill>
                  <a:srgbClr val="5A6875"/>
                </a:solidFill>
              </a:defRPr>
            </a:lvl4pPr>
            <a:lvl5pPr algn="l">
              <a:defRPr sz="1575" b="0">
                <a:solidFill>
                  <a:srgbClr val="5A6875"/>
                </a:solidFill>
              </a:defRPr>
            </a:lvl5pPr>
            <a:lvl6pPr algn="l">
              <a:defRPr sz="1575" b="0">
                <a:solidFill>
                  <a:srgbClr val="5A6875"/>
                </a:solidFill>
              </a:defRPr>
            </a:lvl6pPr>
            <a:lvl7pPr algn="l">
              <a:defRPr sz="1575" b="0">
                <a:solidFill>
                  <a:srgbClr val="5A6875"/>
                </a:solidFill>
              </a:defRPr>
            </a:lvl7pPr>
            <a:lvl8pPr algn="l">
              <a:defRPr sz="1575" b="0">
                <a:solidFill>
                  <a:srgbClr val="5A6875"/>
                </a:solidFill>
              </a:defRPr>
            </a:lvl8pPr>
            <a:lvl9pPr algn="l">
              <a:defRPr sz="1575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A6875"/>
                </a:solidFill>
              </a:defRPr>
            </a:pPr>
            <a:r>
              <a:rPr sz="1575" b="0">
                <a:solidFill>
                  <a:srgbClr val="5A6875"/>
                </a:solidFill>
              </a:rPr>
              <a:t>No real-aircraft safety or deployment claim follows from these scores.</a:t>
            </a:r>
          </a:p>
        </p:txBody>
      </p:sp>
    </p:spTree>
    <p:extLst>
      <p:ext uri="{BB962C8B-B14F-4D97-AF65-F5344CB8AC3E}">
        <p14:creationId xmlns:p14="http://schemas.microsoft.com/office/powerpoint/2010/main" val="20421111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DF71B-E89F-4B29-84C9-4A93B30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Conclusion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B96DB-2801-4D15-B781-B48B983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C783F-CFF8-49C0-BB19-EC981D7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Preserved raw data, checked quality, engineered causal features, compared four regressors and evaluated all four subsets on official test engines.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2BC86-B90F-4936-8700-40B70D8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Next research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D376F-F26C-4011-900E-2287D767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344454"/>
                </a:solidFill>
              </a:defRPr>
            </a:defPPr>
            <a:lvl1pPr algn="l">
              <a:defRPr sz="1875" b="0">
                <a:solidFill>
                  <a:srgbClr val="344454"/>
                </a:solidFill>
              </a:defRPr>
            </a:lvl1pPr>
            <a:lvl2pPr algn="l">
              <a:defRPr sz="1875" b="0">
                <a:solidFill>
                  <a:srgbClr val="344454"/>
                </a:solidFill>
              </a:defRPr>
            </a:lvl2pPr>
            <a:lvl3pPr algn="l">
              <a:defRPr sz="1875" b="0">
                <a:solidFill>
                  <a:srgbClr val="344454"/>
                </a:solidFill>
              </a:defRPr>
            </a:lvl3pPr>
            <a:lvl4pPr algn="l">
              <a:defRPr sz="1875" b="0">
                <a:solidFill>
                  <a:srgbClr val="344454"/>
                </a:solidFill>
              </a:defRPr>
            </a:lvl4pPr>
            <a:lvl5pPr algn="l">
              <a:defRPr sz="1875" b="0">
                <a:solidFill>
                  <a:srgbClr val="344454"/>
                </a:solidFill>
              </a:defRPr>
            </a:lvl5pPr>
            <a:lvl6pPr algn="l">
              <a:defRPr sz="1875" b="0">
                <a:solidFill>
                  <a:srgbClr val="344454"/>
                </a:solidFill>
              </a:defRPr>
            </a:lvl6pPr>
            <a:lvl7pPr algn="l">
              <a:defRPr sz="1875" b="0">
                <a:solidFill>
                  <a:srgbClr val="344454"/>
                </a:solidFill>
              </a:defRPr>
            </a:lvl7pPr>
            <a:lvl8pPr algn="l">
              <a:defRPr sz="1875" b="0">
                <a:solidFill>
                  <a:srgbClr val="344454"/>
                </a:solidFill>
              </a:defRPr>
            </a:lvl8pPr>
            <a:lvl9pPr algn="l">
              <a:defRPr sz="1875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344454"/>
                </a:solidFill>
              </a:defRPr>
            </a:pPr>
            <a:r>
              <a:rPr sz="1875" b="0">
                <a:solidFill>
                  <a:srgbClr val="344454"/>
                </a:solidFill>
              </a:rPr>
              <a:t>Repeated nested engine-wise validation, engine-balanced training, calibrated uncertainty and external data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4181E-5C5A-47C4-BCA1-E5916FE6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5A6875"/>
                </a:solidFill>
              </a:defRPr>
            </a:defPPr>
            <a:lvl1pPr algn="l">
              <a:defRPr sz="1500" b="0">
                <a:solidFill>
                  <a:srgbClr val="5A6875"/>
                </a:solidFill>
              </a:defRPr>
            </a:lvl1pPr>
            <a:lvl2pPr algn="l">
              <a:defRPr sz="1500" b="0">
                <a:solidFill>
                  <a:srgbClr val="5A6875"/>
                </a:solidFill>
              </a:defRPr>
            </a:lvl2pPr>
            <a:lvl3pPr algn="l">
              <a:defRPr sz="1500" b="0">
                <a:solidFill>
                  <a:srgbClr val="5A6875"/>
                </a:solidFill>
              </a:defRPr>
            </a:lvl3pPr>
            <a:lvl4pPr algn="l">
              <a:defRPr sz="1500" b="0">
                <a:solidFill>
                  <a:srgbClr val="5A6875"/>
                </a:solidFill>
              </a:defRPr>
            </a:lvl4pPr>
            <a:lvl5pPr algn="l">
              <a:defRPr sz="1500" b="0">
                <a:solidFill>
                  <a:srgbClr val="5A6875"/>
                </a:solidFill>
              </a:defRPr>
            </a:lvl5pPr>
            <a:lvl6pPr algn="l">
              <a:defRPr sz="1500" b="0">
                <a:solidFill>
                  <a:srgbClr val="5A6875"/>
                </a:solidFill>
              </a:defRPr>
            </a:lvl6pPr>
            <a:lvl7pPr algn="l">
              <a:defRPr sz="1500" b="0">
                <a:solidFill>
                  <a:srgbClr val="5A6875"/>
                </a:solidFill>
              </a:defRPr>
            </a:lvl7pPr>
            <a:lvl8pPr algn="l">
              <a:defRPr sz="1500" b="0">
                <a:solidFill>
                  <a:srgbClr val="5A6875"/>
                </a:solidFill>
              </a:defRPr>
            </a:lvl8pPr>
            <a:lvl9pPr algn="l">
              <a:defRPr sz="1500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875"/>
                </a:solidFill>
              </a:defRPr>
            </a:pPr>
            <a:r>
              <a:rPr sz="1500" b="0">
                <a:solidFill>
                  <a:srgbClr val="5A6875"/>
                </a:solidFill>
              </a:rPr>
              <a:t>Repository: github.com/sohammj/Turbofan_RUL_ML</a:t>
            </a:r>
          </a:p>
        </p:txBody>
      </p:sp>
    </p:spTree>
    <p:extLst>
      <p:ext uri="{BB962C8B-B14F-4D97-AF65-F5344CB8AC3E}">
        <p14:creationId xmlns:p14="http://schemas.microsoft.com/office/powerpoint/2010/main" val="10796069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944F0-10D7-4406-A3F5-FEECB00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72B42"/>
                </a:solidFill>
              </a:defRPr>
            </a:defPPr>
            <a:lvl1pPr algn="l">
              <a:defRPr sz="2625" b="1">
                <a:solidFill>
                  <a:srgbClr val="172B42"/>
                </a:solidFill>
              </a:defRPr>
            </a:lvl1pPr>
            <a:lvl2pPr algn="l">
              <a:defRPr sz="2625" b="1">
                <a:solidFill>
                  <a:srgbClr val="172B42"/>
                </a:solidFill>
              </a:defRPr>
            </a:lvl2pPr>
            <a:lvl3pPr algn="l">
              <a:defRPr sz="2625" b="1">
                <a:solidFill>
                  <a:srgbClr val="172B42"/>
                </a:solidFill>
              </a:defRPr>
            </a:lvl3pPr>
            <a:lvl4pPr algn="l">
              <a:defRPr sz="2625" b="1">
                <a:solidFill>
                  <a:srgbClr val="172B42"/>
                </a:solidFill>
              </a:defRPr>
            </a:lvl4pPr>
            <a:lvl5pPr algn="l">
              <a:defRPr sz="2625" b="1">
                <a:solidFill>
                  <a:srgbClr val="172B42"/>
                </a:solidFill>
              </a:defRPr>
            </a:lvl5pPr>
            <a:lvl6pPr algn="l">
              <a:defRPr sz="2625" b="1">
                <a:solidFill>
                  <a:srgbClr val="172B42"/>
                </a:solidFill>
              </a:defRPr>
            </a:lvl6pPr>
            <a:lvl7pPr algn="l">
              <a:defRPr sz="2625" b="1">
                <a:solidFill>
                  <a:srgbClr val="172B42"/>
                </a:solidFill>
              </a:defRPr>
            </a:lvl7pPr>
            <a:lvl8pPr algn="l">
              <a:defRPr sz="2625" b="1">
                <a:solidFill>
                  <a:srgbClr val="172B42"/>
                </a:solidFill>
              </a:defRPr>
            </a:lvl8pPr>
            <a:lvl9pPr algn="l">
              <a:defRPr sz="26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42"/>
                </a:solidFill>
              </a:defRPr>
            </a:pPr>
            <a:r>
              <a:rPr sz="2625" b="1">
                <a:solidFill>
                  <a:srgbClr val="172B42"/>
                </a:solidFill>
              </a:rPr>
              <a:t>Group contribution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31DA7-0F2C-4358-98CF-74E5F859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Farhaan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F3AB6-2500-4571-AF5C-C36BEB1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668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Data quality, preprocessing, RUL label checks, and causal feature engineering.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EDEF4-A295-4EEE-92FB-0CA09B2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Sanjeet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78104-ABDF-4FE8-8054-AED67854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Candidate model explanation, validation comparison, experiment protocol and reproducibility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64A03-14E6-4EAA-8CCF-ED1F64F3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Sparsh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7C12D-4A5A-4B61-A142-190C9DAD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Official-test evaluation, prediction plots, error analysis, limitations, and presentation figures.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2B566-3ECC-4B3E-B76B-F58867EC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Soham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C302F-1B71-450C-8BBB-B582A474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Project integration, model training, final result interpretation, and report coordination.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2DD85-4E00-48BA-ACB7-EA502CD3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2B42"/>
                </a:solidFill>
              </a:defRPr>
            </a:defPPr>
            <a:lvl1pPr algn="l">
              <a:defRPr sz="2025" b="1">
                <a:solidFill>
                  <a:srgbClr val="172B42"/>
                </a:solidFill>
              </a:defRPr>
            </a:lvl1pPr>
            <a:lvl2pPr algn="l">
              <a:defRPr sz="2025" b="1">
                <a:solidFill>
                  <a:srgbClr val="172B42"/>
                </a:solidFill>
              </a:defRPr>
            </a:lvl2pPr>
            <a:lvl3pPr algn="l">
              <a:defRPr sz="2025" b="1">
                <a:solidFill>
                  <a:srgbClr val="172B42"/>
                </a:solidFill>
              </a:defRPr>
            </a:lvl3pPr>
            <a:lvl4pPr algn="l">
              <a:defRPr sz="2025" b="1">
                <a:solidFill>
                  <a:srgbClr val="172B42"/>
                </a:solidFill>
              </a:defRPr>
            </a:lvl4pPr>
            <a:lvl5pPr algn="l">
              <a:defRPr sz="2025" b="1">
                <a:solidFill>
                  <a:srgbClr val="172B42"/>
                </a:solidFill>
              </a:defRPr>
            </a:lvl5pPr>
            <a:lvl6pPr algn="l">
              <a:defRPr sz="2025" b="1">
                <a:solidFill>
                  <a:srgbClr val="172B42"/>
                </a:solidFill>
              </a:defRPr>
            </a:lvl6pPr>
            <a:lvl7pPr algn="l">
              <a:defRPr sz="2025" b="1">
                <a:solidFill>
                  <a:srgbClr val="172B42"/>
                </a:solidFill>
              </a:defRPr>
            </a:lvl7pPr>
            <a:lvl8pPr algn="l">
              <a:defRPr sz="2025" b="1">
                <a:solidFill>
                  <a:srgbClr val="172B42"/>
                </a:solidFill>
              </a:defRPr>
            </a:lvl8pPr>
            <a:lvl9pPr algn="l">
              <a:defRPr sz="2025" b="1">
                <a:solidFill>
                  <a:srgbClr val="172B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42"/>
                </a:solidFill>
              </a:defRPr>
            </a:pPr>
            <a:r>
              <a:rPr sz="2025" b="1">
                <a:solidFill>
                  <a:srgbClr val="172B42"/>
                </a:solidFill>
              </a:rPr>
              <a:t>Hardik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D8E82-AF13-4472-89B2-895A50CD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344454"/>
                </a:solidFill>
              </a:defRPr>
            </a:defPPr>
            <a:lvl1pPr algn="l">
              <a:defRPr sz="1650" b="0">
                <a:solidFill>
                  <a:srgbClr val="344454"/>
                </a:solidFill>
              </a:defRPr>
            </a:lvl1pPr>
            <a:lvl2pPr algn="l">
              <a:defRPr sz="1650" b="0">
                <a:solidFill>
                  <a:srgbClr val="344454"/>
                </a:solidFill>
              </a:defRPr>
            </a:lvl2pPr>
            <a:lvl3pPr algn="l">
              <a:defRPr sz="1650" b="0">
                <a:solidFill>
                  <a:srgbClr val="344454"/>
                </a:solidFill>
              </a:defRPr>
            </a:lvl3pPr>
            <a:lvl4pPr algn="l">
              <a:defRPr sz="1650" b="0">
                <a:solidFill>
                  <a:srgbClr val="344454"/>
                </a:solidFill>
              </a:defRPr>
            </a:lvl4pPr>
            <a:lvl5pPr algn="l">
              <a:defRPr sz="1650" b="0">
                <a:solidFill>
                  <a:srgbClr val="344454"/>
                </a:solidFill>
              </a:defRPr>
            </a:lvl5pPr>
            <a:lvl6pPr algn="l">
              <a:defRPr sz="1650" b="0">
                <a:solidFill>
                  <a:srgbClr val="344454"/>
                </a:solidFill>
              </a:defRPr>
            </a:lvl6pPr>
            <a:lvl7pPr algn="l">
              <a:defRPr sz="1650" b="0">
                <a:solidFill>
                  <a:srgbClr val="344454"/>
                </a:solidFill>
              </a:defRPr>
            </a:lvl7pPr>
            <a:lvl8pPr algn="l">
              <a:defRPr sz="1650" b="0">
                <a:solidFill>
                  <a:srgbClr val="344454"/>
                </a:solidFill>
              </a:defRPr>
            </a:lvl8pPr>
            <a:lvl9pPr algn="l">
              <a:defRPr sz="1650" b="0">
                <a:solidFill>
                  <a:srgbClr val="344454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44454"/>
                </a:solidFill>
              </a:defRPr>
            </a:pPr>
            <a:r>
              <a:rPr sz="1650" b="0">
                <a:solidFill>
                  <a:srgbClr val="344454"/>
                </a:solidFill>
              </a:rPr>
              <a:t>Dataset provenance, data dictionary, raw data inspection, and EDA interpretation.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83C9E-4826-49E5-B905-5A52DD3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5A6875"/>
                </a:solidFill>
              </a:defRPr>
            </a:defPPr>
            <a:lvl1pPr algn="l">
              <a:defRPr sz="1425" b="0">
                <a:solidFill>
                  <a:srgbClr val="5A6875"/>
                </a:solidFill>
              </a:defRPr>
            </a:lvl1pPr>
            <a:lvl2pPr algn="l">
              <a:defRPr sz="1425" b="0">
                <a:solidFill>
                  <a:srgbClr val="5A6875"/>
                </a:solidFill>
              </a:defRPr>
            </a:lvl2pPr>
            <a:lvl3pPr algn="l">
              <a:defRPr sz="1425" b="0">
                <a:solidFill>
                  <a:srgbClr val="5A6875"/>
                </a:solidFill>
              </a:defRPr>
            </a:lvl3pPr>
            <a:lvl4pPr algn="l">
              <a:defRPr sz="1425" b="0">
                <a:solidFill>
                  <a:srgbClr val="5A6875"/>
                </a:solidFill>
              </a:defRPr>
            </a:lvl4pPr>
            <a:lvl5pPr algn="l">
              <a:defRPr sz="1425" b="0">
                <a:solidFill>
                  <a:srgbClr val="5A6875"/>
                </a:solidFill>
              </a:defRPr>
            </a:lvl5pPr>
            <a:lvl6pPr algn="l">
              <a:defRPr sz="1425" b="0">
                <a:solidFill>
                  <a:srgbClr val="5A6875"/>
                </a:solidFill>
              </a:defRPr>
            </a:lvl6pPr>
            <a:lvl7pPr algn="l">
              <a:defRPr sz="1425" b="0">
                <a:solidFill>
                  <a:srgbClr val="5A6875"/>
                </a:solidFill>
              </a:defRPr>
            </a:lvl7pPr>
            <a:lvl8pPr algn="l">
              <a:defRPr sz="1425" b="0">
                <a:solidFill>
                  <a:srgbClr val="5A6875"/>
                </a:solidFill>
              </a:defRPr>
            </a:lvl8pPr>
            <a:lvl9pPr algn="l">
              <a:defRPr sz="1425" b="0">
                <a:solidFill>
                  <a:srgbClr val="5A687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875"/>
                </a:solidFill>
              </a:defRPr>
            </a:pPr>
            <a:r>
              <a:rPr sz="1425" b="0">
                <a:solidFill>
                  <a:srgbClr val="5A6875"/>
                </a:solidFill>
              </a:rPr>
              <a:t>Confirm actual work and fill missing roll numbers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201924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2026-10-20T18:39:07.1540000Z</dcterms:created>
  <dcterms:modified xsi:type="dcterms:W3CDTF">2026-10-20T18:39:07.1540000Z</dcterms:modified>
</coreProperties>
</file>