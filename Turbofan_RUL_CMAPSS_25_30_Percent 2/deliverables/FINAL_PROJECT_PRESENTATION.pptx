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28b1f514644b7" /><Relationship Type="http://schemas.openxmlformats.org/officeDocument/2006/relationships/extended-properties" Target="/docProps/app.xml" Id="Ra51981c4a60f47d6" /><Relationship Type="http://schemas.openxmlformats.org/officeDocument/2006/relationships/officeDocument" Target="/ppt/presentation.xml" Id="Re4ebf1553ab943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0fbaf08cf41a9"/>
  </p:sldMasterIdLst>
  <p:notesMasterIdLst>
    <p:notesMasterId xmlns:r="http://schemas.openxmlformats.org/officeDocument/2006/relationships" r:id="R11c6c53ddc0848a3"/>
  </p:notesMasterIdLst>
  <p:sldIdLst>
    <p:sldId xmlns:r="http://schemas.openxmlformats.org/officeDocument/2006/relationships" id="256" r:id="R501122f4a7624ad9"/>
    <p:sldId xmlns:r="http://schemas.openxmlformats.org/officeDocument/2006/relationships" id="257" r:id="R4471d4bb9f0a474e"/>
    <p:sldId xmlns:r="http://schemas.openxmlformats.org/officeDocument/2006/relationships" id="258" r:id="Rc7b85393a54e4b88"/>
    <p:sldId xmlns:r="http://schemas.openxmlformats.org/officeDocument/2006/relationships" id="259" r:id="R1c256d69c36b431c"/>
    <p:sldId xmlns:r="http://schemas.openxmlformats.org/officeDocument/2006/relationships" id="260" r:id="Rbd7262d9edde4143"/>
    <p:sldId xmlns:r="http://schemas.openxmlformats.org/officeDocument/2006/relationships" id="261" r:id="R3868add171fd4876"/>
    <p:sldId xmlns:r="http://schemas.openxmlformats.org/officeDocument/2006/relationships" id="262" r:id="R1e0a9245059646db"/>
    <p:sldId xmlns:r="http://schemas.openxmlformats.org/officeDocument/2006/relationships" id="263" r:id="R9a8e33e721b44040"/>
    <p:sldId xmlns:r="http://schemas.openxmlformats.org/officeDocument/2006/relationships" id="264" r:id="R051dd52255c543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12bc6051e74362" /><Relationship Type="http://schemas.openxmlformats.org/officeDocument/2006/relationships/slideMaster" Target="/ppt/slideMasters/slideMaster1.xml" Id="R92e0fbaf08cf41a9" /><Relationship Type="http://schemas.openxmlformats.org/officeDocument/2006/relationships/notesMaster" Target="/ppt/notesMasters/notesMaster1.xml" Id="R11c6c53ddc0848a3" /><Relationship Type="http://schemas.openxmlformats.org/officeDocument/2006/relationships/presProps" Target="/ppt/presProps.xml" Id="R611a11c6e6944a52" /><Relationship Type="http://schemas.openxmlformats.org/officeDocument/2006/relationships/tableStyles" Target="/ppt/tableStyles.xml" Id="Rf7ad962aaf56410f" /><Relationship Type="http://schemas.openxmlformats.org/officeDocument/2006/relationships/slide" Target="/ppt/slides/slide1.xml" Id="R501122f4a7624ad9" /><Relationship Type="http://schemas.openxmlformats.org/officeDocument/2006/relationships/slide" Target="/ppt/slides/slide2.xml" Id="R4471d4bb9f0a474e" /><Relationship Type="http://schemas.openxmlformats.org/officeDocument/2006/relationships/slide" Target="/ppt/slides/slide3.xml" Id="Rc7b85393a54e4b88" /><Relationship Type="http://schemas.openxmlformats.org/officeDocument/2006/relationships/slide" Target="/ppt/slides/slide4.xml" Id="R1c256d69c36b431c" /><Relationship Type="http://schemas.openxmlformats.org/officeDocument/2006/relationships/slide" Target="/ppt/slides/slide5.xml" Id="Rbd7262d9edde4143" /><Relationship Type="http://schemas.openxmlformats.org/officeDocument/2006/relationships/slide" Target="/ppt/slides/slide6.xml" Id="R3868add171fd4876" /><Relationship Type="http://schemas.openxmlformats.org/officeDocument/2006/relationships/slide" Target="/ppt/slides/slide7.xml" Id="R1e0a9245059646db" /><Relationship Type="http://schemas.openxmlformats.org/officeDocument/2006/relationships/slide" Target="/ppt/slides/slide8.xml" Id="R9a8e33e721b44040" /><Relationship Type="http://schemas.openxmlformats.org/officeDocument/2006/relationships/slide" Target="/ppt/slides/slide9.xml" Id="R051dd52255c543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25e441e6ae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9ffccf581d43de" /><Relationship Type="http://schemas.openxmlformats.org/officeDocument/2006/relationships/notesMaster" Target="/ppt/notesMasters/notesMaster1.xml" Id="Rb0702e6c01ae4d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7b8975c6a6477a" /><Relationship Type="http://schemas.openxmlformats.org/officeDocument/2006/relationships/notesMaster" Target="/ppt/notesMasters/notesMaster1.xml" Id="Rc81fc4e8ce0d4f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ed538abc284fcf" /><Relationship Type="http://schemas.openxmlformats.org/officeDocument/2006/relationships/notesMaster" Target="/ppt/notesMasters/notesMaster1.xml" Id="R71a71c62e8f6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9f48a7ec924775" /><Relationship Type="http://schemas.openxmlformats.org/officeDocument/2006/relationships/notesMaster" Target="/ppt/notesMasters/notesMaster1.xml" Id="Rfbdcd129f86c40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e413fa17d64bf8" /><Relationship Type="http://schemas.openxmlformats.org/officeDocument/2006/relationships/notesMaster" Target="/ppt/notesMasters/notesMaster1.xml" Id="R45a5f2ff15cf41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7a201c25ff4bae" /><Relationship Type="http://schemas.openxmlformats.org/officeDocument/2006/relationships/notesMaster" Target="/ppt/notesMasters/notesMaster1.xml" Id="R93ed75c8dd53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7c72c17949400f" /><Relationship Type="http://schemas.openxmlformats.org/officeDocument/2006/relationships/notesMaster" Target="/ppt/notesMasters/notesMaster1.xml" Id="Ra136fa7bba9345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175b45d4c84604" /><Relationship Type="http://schemas.openxmlformats.org/officeDocument/2006/relationships/notesMaster" Target="/ppt/notesMasters/notesMaster1.xml" Id="R828104f40d1c48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4392bce02a416d" /><Relationship Type="http://schemas.openxmlformats.org/officeDocument/2006/relationships/notesMaster" Target="/ppt/notesMasters/notesMaster1.xml" Id="R3beddded714642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NASA C-MAPSS data and Saxena et al. (2008), DOI 10.1109/PHM.2008.4711414. The data are simulated, not live aircraft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docs/SOURCE_PROVENANCE.md and reports/dataset_summary.csv. FD001–FD004 are the modeled subsets; the original PHM08 challenge train.txt package is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src/cmapss_pipeline.py, reports/PREPROCESSING_SUMMARY.md, docs/MODELING_PROTOCOL.md. Modeling reloads raw data and fits feature selection inside the engine-wise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docs/MODELING_PROTOCOL.md. The candidates are the median baseline, Ridge regression, Random Forest and Histogram Gradient Boosting. The official test answers are excluded from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reports/modeling/official_test_summary.csv. RMSE and MAE are measured in cycles. The selected model was chosen on validation data before official-test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reports/modeling/FD001/official_test_actual_vs_predicted.png and reports/modeling/FD002/official_test_actual_vs_predicted.png. Each point is one official test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reports/modeling/error_direction_counts.csv and reports/modeling/error_by_rul_band.png. Overestimation means predicted remaining life exceeds actual remaining life.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docs/ROBUSTNESS_ANALYSIS.md and reports/robustness/repeated_validation_rmse.png. This post-hoc audit uses three training-only engine splits and fixed 50%, 70%, 85% endpoints. It does not alter the official-test model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dated group study report and deliverables/FINAL_PROJECT_REPORT.docx. These are assigned presentation roles, not independently verified authorship of files or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d054590494c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c39971b5742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6c94caf3040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a9bad938b44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2a79da2d848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1f0099a4a4c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91FD44-EF0B-44F1-8898-659F193EE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AA1BEB-064F-4723-BD9A-4068002611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2AC278-5EAA-4119-8770-E1E484FBE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FA263F-9A4A-420D-8CF7-1CEAC5ABF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00C9F6-A9F5-43E2-B55D-5E501C45B9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D7D31A-5750-4F53-873B-F0E66148F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62FB9-1E2C-4B0D-AB70-F98166AD4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4D565E-3E27-4842-A982-EDE5B23F3D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33ED66-69DA-4110-BB69-F27FCB293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835AE1-6A88-42C8-8B99-4B21682B6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bb65b281d24ff7" /><Relationship Type="http://schemas.openxmlformats.org/officeDocument/2006/relationships/slideLayout" Target="/ppt/slideLayouts/slideLayout1.xml" Id="Rb2a9a72c16264971" /><Relationship Type="http://schemas.openxmlformats.org/officeDocument/2006/relationships/slideLayout" Target="/ppt/slideLayouts/slideLayout2.xml" Id="R761a154af3644f3a" /><Relationship Type="http://schemas.openxmlformats.org/officeDocument/2006/relationships/slideLayout" Target="/ppt/slideLayouts/slideLayout3.xml" Id="R7b787d8effb2479c" /><Relationship Type="http://schemas.openxmlformats.org/officeDocument/2006/relationships/slideLayout" Target="/ppt/slideLayouts/slideLayout4.xml" Id="R0d83c8c44bbb42c7" /><Relationship Type="http://schemas.openxmlformats.org/officeDocument/2006/relationships/slideLayout" Target="/ppt/slideLayouts/slideLayout5.xml" Id="R8538c52e3145464c" /><Relationship Type="http://schemas.openxmlformats.org/officeDocument/2006/relationships/slideLayout" Target="/ppt/slideLayouts/slideLayout6.xml" Id="R35ef727a953748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9a72c16264971"/>
    <p:sldLayoutId xmlns:r="http://schemas.openxmlformats.org/officeDocument/2006/relationships" id="2147483650" r:id="R761a154af3644f3a"/>
    <p:sldLayoutId xmlns:r="http://schemas.openxmlformats.org/officeDocument/2006/relationships" id="2147483651" r:id="R7b787d8effb2479c"/>
    <p:sldLayoutId xmlns:r="http://schemas.openxmlformats.org/officeDocument/2006/relationships" id="2147483652" r:id="R0d83c8c44bbb42c7"/>
    <p:sldLayoutId xmlns:r="http://schemas.openxmlformats.org/officeDocument/2006/relationships" id="2147483653" r:id="R8538c52e3145464c"/>
    <p:sldLayoutId xmlns:r="http://schemas.openxmlformats.org/officeDocument/2006/relationships" id="2147483654" r:id="R35ef727a953748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5e1b724424047" /><Relationship Type="http://schemas.openxmlformats.org/officeDocument/2006/relationships/notesSlide" Target="/ppt/notesSlides/notesSlide1.xml" Id="R5faaa798d8234a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6bb1b20174082" /><Relationship Type="http://schemas.openxmlformats.org/officeDocument/2006/relationships/notesSlide" Target="/ppt/notesSlides/notesSlide2.xml" Id="Rafb7f82b1949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8e26eb6e3433b" /><Relationship Type="http://schemas.openxmlformats.org/officeDocument/2006/relationships/notesSlide" Target="/ppt/notesSlides/notesSlide3.xml" Id="R51290c0fee5c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1b93f0f604237" /><Relationship Type="http://schemas.openxmlformats.org/officeDocument/2006/relationships/notesSlide" Target="/ppt/notesSlides/notesSlide4.xml" Id="Rb3d124ae7fab4a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f85cae78542a8" /><Relationship Type="http://schemas.openxmlformats.org/officeDocument/2006/relationships/notesSlide" Target="/ppt/notesSlides/notesSlide5.xml" Id="R01990e10c51f46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e0065e1fb40b7" /><Relationship Type="http://schemas.openxmlformats.org/officeDocument/2006/relationships/image" Target="/ppt/media/image.png" Id="Re6fdbd9ce47443ba" /><Relationship Type="http://schemas.openxmlformats.org/officeDocument/2006/relationships/image" Target="/ppt/media/image2.png" Id="R570a353f969545ed" /><Relationship Type="http://schemas.openxmlformats.org/officeDocument/2006/relationships/notesSlide" Target="/ppt/notesSlides/notesSlide6.xml" Id="Rf6a391e05f46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429ec69444aae" /><Relationship Type="http://schemas.openxmlformats.org/officeDocument/2006/relationships/image" Target="/ppt/media/image3.png" Id="R24415d915abe4f5a" /><Relationship Type="http://schemas.openxmlformats.org/officeDocument/2006/relationships/notesSlide" Target="/ppt/notesSlides/notesSlide7.xml" Id="R06fa138e042d45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85e08bf4c4865" /><Relationship Type="http://schemas.openxmlformats.org/officeDocument/2006/relationships/image" Target="/ppt/media/image4.png" Id="R3b941b1bd2414e14" /><Relationship Type="http://schemas.openxmlformats.org/officeDocument/2006/relationships/notesSlide" Target="/ppt/notesSlides/notesSlide8.xml" Id="R0a45e28e73ce4b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1eb6e839a2489c" /><Relationship Type="http://schemas.openxmlformats.org/officeDocument/2006/relationships/notesSlide" Target="/ppt/notesSlides/notesSlide9.xml" Id="R434e5dacca944f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8A57E-B581-48BA-A842-0D2E264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B42"/>
                </a:solidFill>
              </a:defRPr>
            </a:defPPr>
            <a:lvl1pPr>
              <a:defRPr sz="3450" b="1">
                <a:solidFill>
                  <a:srgbClr val="172B42"/>
                </a:solidFill>
              </a:defRPr>
            </a:lvl1pPr>
            <a:lvl2pPr>
              <a:defRPr sz="3450" b="1">
                <a:solidFill>
                  <a:srgbClr val="172B42"/>
                </a:solidFill>
              </a:defRPr>
            </a:lvl2pPr>
            <a:lvl3pPr>
              <a:defRPr sz="3450" b="1">
                <a:solidFill>
                  <a:srgbClr val="172B42"/>
                </a:solidFill>
              </a:defRPr>
            </a:lvl3pPr>
            <a:lvl4pPr>
              <a:defRPr sz="3450" b="1">
                <a:solidFill>
                  <a:srgbClr val="172B42"/>
                </a:solidFill>
              </a:defRPr>
            </a:lvl4pPr>
            <a:lvl5pPr>
              <a:defRPr sz="3450" b="1">
                <a:solidFill>
                  <a:srgbClr val="172B42"/>
                </a:solidFill>
              </a:defRPr>
            </a:lvl5pPr>
            <a:lvl6pPr>
              <a:defRPr sz="3450" b="1">
                <a:solidFill>
                  <a:srgbClr val="172B42"/>
                </a:solidFill>
              </a:defRPr>
            </a:lvl6pPr>
            <a:lvl7pPr>
              <a:defRPr sz="3450" b="1">
                <a:solidFill>
                  <a:srgbClr val="172B42"/>
                </a:solidFill>
              </a:defRPr>
            </a:lvl7pPr>
            <a:lvl8pPr>
              <a:defRPr sz="3450" b="1">
                <a:solidFill>
                  <a:srgbClr val="172B42"/>
                </a:solidFill>
              </a:defRPr>
            </a:lvl8pPr>
            <a:lvl9pPr>
              <a:defRPr sz="34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42"/>
                </a:solidFill>
              </a:defRPr>
            </a:pPr>
            <a:r>
              <a:rPr sz="3450" b="1">
                <a:solidFill>
                  <a:srgbClr val="172B42"/>
                </a:solidFill>
              </a:rPr>
              <a:t>Predictive Remaining Useful Life Estimation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4C814-E905-4285-8AA4-B13F7B61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D4854"/>
                </a:solidFill>
              </a:defRPr>
            </a:defPPr>
            <a:lvl1pPr>
              <a:defRPr sz="2175" b="0">
                <a:solidFill>
                  <a:srgbClr val="3D4854"/>
                </a:solidFill>
              </a:defRPr>
            </a:lvl1pPr>
            <a:lvl2pPr>
              <a:defRPr sz="2175" b="0">
                <a:solidFill>
                  <a:srgbClr val="3D4854"/>
                </a:solidFill>
              </a:defRPr>
            </a:lvl2pPr>
            <a:lvl3pPr>
              <a:defRPr sz="2175" b="0">
                <a:solidFill>
                  <a:srgbClr val="3D4854"/>
                </a:solidFill>
              </a:defRPr>
            </a:lvl3pPr>
            <a:lvl4pPr>
              <a:defRPr sz="2175" b="0">
                <a:solidFill>
                  <a:srgbClr val="3D4854"/>
                </a:solidFill>
              </a:defRPr>
            </a:lvl4pPr>
            <a:lvl5pPr>
              <a:defRPr sz="2175" b="0">
                <a:solidFill>
                  <a:srgbClr val="3D4854"/>
                </a:solidFill>
              </a:defRPr>
            </a:lvl5pPr>
            <a:lvl6pPr>
              <a:defRPr sz="2175" b="0">
                <a:solidFill>
                  <a:srgbClr val="3D4854"/>
                </a:solidFill>
              </a:defRPr>
            </a:lvl6pPr>
            <a:lvl7pPr>
              <a:defRPr sz="2175" b="0">
                <a:solidFill>
                  <a:srgbClr val="3D4854"/>
                </a:solidFill>
              </a:defRPr>
            </a:lvl7pPr>
            <a:lvl8pPr>
              <a:defRPr sz="2175" b="0">
                <a:solidFill>
                  <a:srgbClr val="3D4854"/>
                </a:solidFill>
              </a:defRPr>
            </a:lvl8pPr>
            <a:lvl9pPr>
              <a:defRPr sz="217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D4854"/>
                </a:solidFill>
              </a:defRPr>
            </a:pPr>
            <a:r>
              <a:rPr sz="2175" b="0">
                <a:solidFill>
                  <a:srgbClr val="3D4854"/>
                </a:solidFill>
              </a:rPr>
              <a:t>NASA C-MAPSS turbofan engines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13C3B-A7CC-4364-BB3B-6735CB8C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Final academic machine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1870594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7036E-ACCA-47A9-8E43-88B88FFA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Dataset and prediction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E75B2-291B-4A65-913A-23A516E0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B42"/>
                </a:solidFill>
              </a:defRPr>
            </a:defPPr>
            <a:lvl1pPr>
              <a:defRPr sz="2100" b="1">
                <a:solidFill>
                  <a:srgbClr val="172B42"/>
                </a:solidFill>
              </a:defRPr>
            </a:lvl1pPr>
            <a:lvl2pPr>
              <a:defRPr sz="2100" b="1">
                <a:solidFill>
                  <a:srgbClr val="172B42"/>
                </a:solidFill>
              </a:defRPr>
            </a:lvl2pPr>
            <a:lvl3pPr>
              <a:defRPr sz="2100" b="1">
                <a:solidFill>
                  <a:srgbClr val="172B42"/>
                </a:solidFill>
              </a:defRPr>
            </a:lvl3pPr>
            <a:lvl4pPr>
              <a:defRPr sz="2100" b="1">
                <a:solidFill>
                  <a:srgbClr val="172B42"/>
                </a:solidFill>
              </a:defRPr>
            </a:lvl4pPr>
            <a:lvl5pPr>
              <a:defRPr sz="2100" b="1">
                <a:solidFill>
                  <a:srgbClr val="172B42"/>
                </a:solidFill>
              </a:defRPr>
            </a:lvl5pPr>
            <a:lvl6pPr>
              <a:defRPr sz="2100" b="1">
                <a:solidFill>
                  <a:srgbClr val="172B42"/>
                </a:solidFill>
              </a:defRPr>
            </a:lvl6pPr>
            <a:lvl7pPr>
              <a:defRPr sz="2100" b="1">
                <a:solidFill>
                  <a:srgbClr val="172B42"/>
                </a:solidFill>
              </a:defRPr>
            </a:lvl7pPr>
            <a:lvl8pPr>
              <a:defRPr sz="2100" b="1">
                <a:solidFill>
                  <a:srgbClr val="172B42"/>
                </a:solidFill>
              </a:defRPr>
            </a:lvl8pPr>
            <a:lvl9pPr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26 raw fields per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E4260-0291-43F7-961D-46707F13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Engine ID, cycle, 3 operating settings, 21 sensors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D1800-7ED3-4BD7-884D-5938DE6E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Training trajectories run to failure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C741A-8E92-43E2-A58B-0A5DFBFD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Test trajectories stop early. Predict remaining cycles at the last observed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0CEF7-D355-44E6-B7CE-592C73AC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Four subsets: FD001, FD002, FD003, FD004</a:t>
            </a:r>
          </a:p>
        </p:txBody>
      </p:sp>
    </p:spTree>
    <p:extLst>
      <p:ext uri="{BB962C8B-B14F-4D97-AF65-F5344CB8AC3E}">
        <p14:creationId xmlns:p14="http://schemas.microsoft.com/office/powerpoint/2010/main" val="1405390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20FCC-240B-4AE2-8442-5CFDBE95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Preprocessing and leakage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318A3-3F7C-48D0-9DE9-54C79146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Raw data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7FD92-9AF3-467B-BF3E-DB4F704E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Missing values, duplicates, engine-cycle keys, numeric types and cycle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383B3-9573-437B-AA5B-A3EA857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RUL 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A4860-9495-4FA0-8AC6-63D588C8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Final training cycle minus current cycle. Official test RUL is an evaluation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76BCE-6876-4DEC-888D-556F0346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Leakage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1CBCB-7631-4B9F-98B3-12C5064B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Split by engine. Use only current and earlier sensor readings. Never use RUL as an input.</a:t>
            </a:r>
          </a:p>
        </p:txBody>
      </p:sp>
    </p:spTree>
    <p:extLst>
      <p:ext uri="{BB962C8B-B14F-4D97-AF65-F5344CB8AC3E}">
        <p14:creationId xmlns:p14="http://schemas.microsoft.com/office/powerpoint/2010/main" val="545624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81DC6-EAE5-4B91-9ED1-72A21F29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Model selection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F95D9-3F48-4580-B070-935C0CF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1  Hold out 20% of training engines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6B79A-4E68-49DF-B3F8-B0724315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2  Choose one partial-history endpoint per held-out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70EE3-0759-49D6-86FF-7F95379D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3  Compare models using validation RMSE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777B5-6C7E-42F7-AFB2-DD2D55F8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4  Refit the winner on all training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0CC93-0EDD-4B03-8FEC-D14F81E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D4854"/>
                </a:solidFill>
              </a:defRPr>
            </a:defPPr>
            <a:lvl1pPr>
              <a:defRPr sz="1950" b="0">
                <a:solidFill>
                  <a:srgbClr val="3D4854"/>
                </a:solidFill>
              </a:defRPr>
            </a:lvl1pPr>
            <a:lvl2pPr>
              <a:defRPr sz="1950" b="0">
                <a:solidFill>
                  <a:srgbClr val="3D4854"/>
                </a:solidFill>
              </a:defRPr>
            </a:lvl2pPr>
            <a:lvl3pPr>
              <a:defRPr sz="1950" b="0">
                <a:solidFill>
                  <a:srgbClr val="3D4854"/>
                </a:solidFill>
              </a:defRPr>
            </a:lvl3pPr>
            <a:lvl4pPr>
              <a:defRPr sz="1950" b="0">
                <a:solidFill>
                  <a:srgbClr val="3D4854"/>
                </a:solidFill>
              </a:defRPr>
            </a:lvl4pPr>
            <a:lvl5pPr>
              <a:defRPr sz="1950" b="0">
                <a:solidFill>
                  <a:srgbClr val="3D4854"/>
                </a:solidFill>
              </a:defRPr>
            </a:lvl5pPr>
            <a:lvl6pPr>
              <a:defRPr sz="1950" b="0">
                <a:solidFill>
                  <a:srgbClr val="3D4854"/>
                </a:solidFill>
              </a:defRPr>
            </a:lvl6pPr>
            <a:lvl7pPr>
              <a:defRPr sz="1950" b="0">
                <a:solidFill>
                  <a:srgbClr val="3D4854"/>
                </a:solidFill>
              </a:defRPr>
            </a:lvl7pPr>
            <a:lvl8pPr>
              <a:defRPr sz="1950" b="0">
                <a:solidFill>
                  <a:srgbClr val="3D4854"/>
                </a:solidFill>
              </a:defRPr>
            </a:lvl8pPr>
            <a:lvl9pPr>
              <a:defRPr sz="19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D4854"/>
                </a:solidFill>
              </a:defRPr>
            </a:pPr>
            <a:r>
              <a:rPr sz="1950" b="0">
                <a:solidFill>
                  <a:srgbClr val="3D4854"/>
                </a:solidFill>
              </a:rPr>
              <a:t>5  Evaluate once on official test endpoints</a:t>
            </a:r>
          </a:p>
        </p:txBody>
      </p:sp>
    </p:spTree>
    <p:extLst>
      <p:ext uri="{BB962C8B-B14F-4D97-AF65-F5344CB8AC3E}">
        <p14:creationId xmlns:p14="http://schemas.microsoft.com/office/powerpoint/2010/main" val="2099280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83AAA-6710-4AEC-A418-D03B7F20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Official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D12E9-DFD9-4DA0-8236-162D434C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ED92-AA71-483B-807A-6D2BBED9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Selected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9B412-BD5E-4564-A2C0-3FC88B7F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3C351-7EE8-482D-B837-0A12CB3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RMSE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95791-4CED-4991-8C99-13B4A742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0975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B42"/>
                </a:solidFill>
              </a:defRPr>
            </a:defPPr>
            <a:lvl1pPr>
              <a:defRPr sz="1725" b="1">
                <a:solidFill>
                  <a:srgbClr val="172B42"/>
                </a:solidFill>
              </a:defRPr>
            </a:lvl1pPr>
            <a:lvl2pPr>
              <a:defRPr sz="1725" b="1">
                <a:solidFill>
                  <a:srgbClr val="172B42"/>
                </a:solidFill>
              </a:defRPr>
            </a:lvl2pPr>
            <a:lvl3pPr>
              <a:defRPr sz="1725" b="1">
                <a:solidFill>
                  <a:srgbClr val="172B42"/>
                </a:solidFill>
              </a:defRPr>
            </a:lvl3pPr>
            <a:lvl4pPr>
              <a:defRPr sz="1725" b="1">
                <a:solidFill>
                  <a:srgbClr val="172B42"/>
                </a:solidFill>
              </a:defRPr>
            </a:lvl4pPr>
            <a:lvl5pPr>
              <a:defRPr sz="1725" b="1">
                <a:solidFill>
                  <a:srgbClr val="172B42"/>
                </a:solidFill>
              </a:defRPr>
            </a:lvl5pPr>
            <a:lvl6pPr>
              <a:defRPr sz="1725" b="1">
                <a:solidFill>
                  <a:srgbClr val="172B42"/>
                </a:solidFill>
              </a:defRPr>
            </a:lvl6pPr>
            <a:lvl7pPr>
              <a:defRPr sz="1725" b="1">
                <a:solidFill>
                  <a:srgbClr val="172B42"/>
                </a:solidFill>
              </a:defRPr>
            </a:lvl7pPr>
            <a:lvl8pPr>
              <a:defRPr sz="1725" b="1">
                <a:solidFill>
                  <a:srgbClr val="172B42"/>
                </a:solidFill>
              </a:defRPr>
            </a:lvl8pPr>
            <a:lvl9pPr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R²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EA464-A212-4C4D-A54F-F9335C4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490A0-0952-40A0-A5BC-1F3A3C8F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155DE-0ECA-4AE3-83A5-0D2BF1A4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21.21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97CC6-5966-456A-9A99-28956DB7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28.68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B8A6E-B33A-494A-AE99-7ACD9EA9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CDF3D-6858-4A6D-8030-3C27CDA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08FCE-1897-43A0-843B-7E046819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81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Histogram Gradient Boosting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34D2D-B97F-43EE-8151-FBAF6A70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20.27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F7F53-66FB-4F61-8DCC-9DCA821A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27.66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E4B5F-1A04-44B8-A7BB-1C06EE9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81375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3154F-7820-4CE7-BF4A-C7B318E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A808F-56DF-4A2F-A834-2F506F3E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33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Histogram Gradient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1D640-EF93-4A7D-B79F-A42FAFE4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23.89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0DF2D-03E1-45B3-8E77-0F698BA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3385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34.81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1C6EE-0B23-4435-9109-0222F854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0.29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8B654-BEC4-4EAC-91DB-1C210DBC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5E112-9BDF-42A4-B700-7D39BB49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Histogram Gradient Boosting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E9092-4158-4C5E-ADC2-035EBF7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27.72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D43D5-5016-44FA-8BDB-76C26A55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86325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38.50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7B698-8FF0-44CF-B671-331B1A35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86325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0.50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4D7541-ACFF-4BA7-9258-2CD08C37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D4854"/>
                </a:solidFill>
              </a:defRPr>
            </a:defPPr>
            <a:lvl1pPr>
              <a:defRPr sz="1425" b="0">
                <a:solidFill>
                  <a:srgbClr val="3D4854"/>
                </a:solidFill>
              </a:defRPr>
            </a:lvl1pPr>
            <a:lvl2pPr>
              <a:defRPr sz="1425" b="0">
                <a:solidFill>
                  <a:srgbClr val="3D4854"/>
                </a:solidFill>
              </a:defRPr>
            </a:lvl2pPr>
            <a:lvl3pPr>
              <a:defRPr sz="1425" b="0">
                <a:solidFill>
                  <a:srgbClr val="3D4854"/>
                </a:solidFill>
              </a:defRPr>
            </a:lvl3pPr>
            <a:lvl4pPr>
              <a:defRPr sz="1425" b="0">
                <a:solidFill>
                  <a:srgbClr val="3D4854"/>
                </a:solidFill>
              </a:defRPr>
            </a:lvl4pPr>
            <a:lvl5pPr>
              <a:defRPr sz="1425" b="0">
                <a:solidFill>
                  <a:srgbClr val="3D4854"/>
                </a:solidFill>
              </a:defRPr>
            </a:lvl5pPr>
            <a:lvl6pPr>
              <a:defRPr sz="1425" b="0">
                <a:solidFill>
                  <a:srgbClr val="3D4854"/>
                </a:solidFill>
              </a:defRPr>
            </a:lvl6pPr>
            <a:lvl7pPr>
              <a:defRPr sz="1425" b="0">
                <a:solidFill>
                  <a:srgbClr val="3D4854"/>
                </a:solidFill>
              </a:defRPr>
            </a:lvl7pPr>
            <a:lvl8pPr>
              <a:defRPr sz="1425" b="0">
                <a:solidFill>
                  <a:srgbClr val="3D4854"/>
                </a:solidFill>
              </a:defRPr>
            </a:lvl8pPr>
            <a:lvl9pPr>
              <a:defRPr sz="14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D4854"/>
                </a:solidFill>
              </a:defRPr>
            </a:pPr>
            <a:r>
              <a:rPr sz="1425" b="0">
                <a:solidFill>
                  <a:srgbClr val="3D4854"/>
                </a:solidFill>
              </a:rPr>
              <a:t>Lower MAE and RMSE are better. These are benchmark results, not deployment guarantees.</a:t>
            </a:r>
          </a:p>
        </p:txBody>
      </p:sp>
    </p:spTree>
    <p:extLst>
      <p:ext uri="{BB962C8B-B14F-4D97-AF65-F5344CB8AC3E}">
        <p14:creationId xmlns:p14="http://schemas.microsoft.com/office/powerpoint/2010/main" val="1890045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C8D0B-5358-4CEA-BADC-C658C20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Predicted versus actual RUL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8A561-3B9C-4251-88FA-86F76C03C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dbd9ce47443ba"/>
          <a:stretch xmlns:a="http://schemas.openxmlformats.org/drawingml/2006/main"/>
        </p:blipFill>
        <p:spPr>
          <a:xfrm xmlns:a="http://schemas.openxmlformats.org/drawingml/2006/main">
            <a:off x="1071563" y="1476375"/>
            <a:ext cx="4333875" cy="433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18C7D-68FA-4CC7-B93F-5DF18747AE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a353f969545ed"/>
          <a:stretch xmlns:a="http://schemas.openxmlformats.org/drawingml/2006/main"/>
        </p:blipFill>
        <p:spPr>
          <a:xfrm xmlns:a="http://schemas.openxmlformats.org/drawingml/2006/main">
            <a:off x="6786563" y="1476375"/>
            <a:ext cx="4333875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1A503-4830-45C8-A53A-78744C0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340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B42"/>
                </a:solidFill>
              </a:defRPr>
            </a:defPPr>
            <a:lvl1pPr>
              <a:defRPr sz="1500" b="1">
                <a:solidFill>
                  <a:srgbClr val="172B42"/>
                </a:solidFill>
              </a:defRPr>
            </a:lvl1pPr>
            <a:lvl2pPr>
              <a:defRPr sz="1500" b="1">
                <a:solidFill>
                  <a:srgbClr val="172B42"/>
                </a:solidFill>
              </a:defRPr>
            </a:lvl2pPr>
            <a:lvl3pPr>
              <a:defRPr sz="1500" b="1">
                <a:solidFill>
                  <a:srgbClr val="172B42"/>
                </a:solidFill>
              </a:defRPr>
            </a:lvl3pPr>
            <a:lvl4pPr>
              <a:defRPr sz="1500" b="1">
                <a:solidFill>
                  <a:srgbClr val="172B42"/>
                </a:solidFill>
              </a:defRPr>
            </a:lvl4pPr>
            <a:lvl5pPr>
              <a:defRPr sz="1500" b="1">
                <a:solidFill>
                  <a:srgbClr val="172B42"/>
                </a:solidFill>
              </a:defRPr>
            </a:lvl5pPr>
            <a:lvl6pPr>
              <a:defRPr sz="1500" b="1">
                <a:solidFill>
                  <a:srgbClr val="172B42"/>
                </a:solidFill>
              </a:defRPr>
            </a:lvl6pPr>
            <a:lvl7pPr>
              <a:defRPr sz="1500" b="1">
                <a:solidFill>
                  <a:srgbClr val="172B42"/>
                </a:solidFill>
              </a:defRPr>
            </a:lvl7pPr>
            <a:lvl8pPr>
              <a:defRPr sz="1500" b="1">
                <a:solidFill>
                  <a:srgbClr val="172B42"/>
                </a:solidFill>
              </a:defRPr>
            </a:lvl8pPr>
            <a:lvl9pPr>
              <a:defRPr sz="15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42"/>
                </a:solidFill>
              </a:defRPr>
            </a:pPr>
            <a:r>
              <a:rPr sz="1500" b="1">
                <a:solidFill>
                  <a:srgbClr val="172B42"/>
                </a:solidFill>
              </a:rPr>
              <a:t>FD001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864AA-3B46-48C7-8DD5-A1F0AE9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340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B42"/>
                </a:solidFill>
              </a:defRPr>
            </a:defPPr>
            <a:lvl1pPr>
              <a:defRPr sz="1500" b="1">
                <a:solidFill>
                  <a:srgbClr val="172B42"/>
                </a:solidFill>
              </a:defRPr>
            </a:lvl1pPr>
            <a:lvl2pPr>
              <a:defRPr sz="1500" b="1">
                <a:solidFill>
                  <a:srgbClr val="172B42"/>
                </a:solidFill>
              </a:defRPr>
            </a:lvl2pPr>
            <a:lvl3pPr>
              <a:defRPr sz="1500" b="1">
                <a:solidFill>
                  <a:srgbClr val="172B42"/>
                </a:solidFill>
              </a:defRPr>
            </a:lvl3pPr>
            <a:lvl4pPr>
              <a:defRPr sz="1500" b="1">
                <a:solidFill>
                  <a:srgbClr val="172B42"/>
                </a:solidFill>
              </a:defRPr>
            </a:lvl4pPr>
            <a:lvl5pPr>
              <a:defRPr sz="1500" b="1">
                <a:solidFill>
                  <a:srgbClr val="172B42"/>
                </a:solidFill>
              </a:defRPr>
            </a:lvl5pPr>
            <a:lvl6pPr>
              <a:defRPr sz="1500" b="1">
                <a:solidFill>
                  <a:srgbClr val="172B42"/>
                </a:solidFill>
              </a:defRPr>
            </a:lvl6pPr>
            <a:lvl7pPr>
              <a:defRPr sz="1500" b="1">
                <a:solidFill>
                  <a:srgbClr val="172B42"/>
                </a:solidFill>
              </a:defRPr>
            </a:lvl7pPr>
            <a:lvl8pPr>
              <a:defRPr sz="1500" b="1">
                <a:solidFill>
                  <a:srgbClr val="172B42"/>
                </a:solidFill>
              </a:defRPr>
            </a:lvl8pPr>
            <a:lvl9pPr>
              <a:defRPr sz="15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B42"/>
                </a:solidFill>
              </a:defRPr>
            </a:pPr>
            <a:r>
              <a:rPr sz="1500" b="1">
                <a:solidFill>
                  <a:srgbClr val="172B42"/>
                </a:solidFill>
              </a:rPr>
              <a:t>FD002</a:t>
            </a:r>
          </a:p>
        </p:txBody>
      </p:sp>
    </p:spTree>
    <p:extLst>
      <p:ext uri="{BB962C8B-B14F-4D97-AF65-F5344CB8AC3E}">
        <p14:creationId xmlns:p14="http://schemas.microsoft.com/office/powerpoint/2010/main" val="145668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8052D-E4AF-4B5A-BE2A-7A56EB78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Error analysis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DAC01-7810-4C71-B97D-EDF925E019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15d915abe4f5a"/>
          <a:stretch xmlns:a="http://schemas.openxmlformats.org/drawingml/2006/main"/>
        </p:blipFill>
        <p:spPr>
          <a:xfrm xmlns:a="http://schemas.openxmlformats.org/drawingml/2006/main">
            <a:off x="714375" y="1647825"/>
            <a:ext cx="7191375" cy="43148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E4AD7-C1D6-4763-97C4-98F9F378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62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Overestimated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BAEA3-56D8-459F-9ACC-2FA6D19D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76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FD001  65 /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D0854-810C-4D9F-9A6C-5D0B5A5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38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FD002  150 / 259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BBF6D-9A60-4091-90F8-336CF49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00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FD003  76 /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8B6FA-D690-4391-AAE8-5258F4DC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D4854"/>
                </a:solidFill>
              </a:defRPr>
            </a:defPPr>
            <a:lvl1pPr>
              <a:defRPr sz="1650" b="0">
                <a:solidFill>
                  <a:srgbClr val="3D4854"/>
                </a:solidFill>
              </a:defRPr>
            </a:lvl1pPr>
            <a:lvl2pPr>
              <a:defRPr sz="1650" b="0">
                <a:solidFill>
                  <a:srgbClr val="3D4854"/>
                </a:solidFill>
              </a:defRPr>
            </a:lvl2pPr>
            <a:lvl3pPr>
              <a:defRPr sz="1650" b="0">
                <a:solidFill>
                  <a:srgbClr val="3D4854"/>
                </a:solidFill>
              </a:defRPr>
            </a:lvl3pPr>
            <a:lvl4pPr>
              <a:defRPr sz="1650" b="0">
                <a:solidFill>
                  <a:srgbClr val="3D4854"/>
                </a:solidFill>
              </a:defRPr>
            </a:lvl4pPr>
            <a:lvl5pPr>
              <a:defRPr sz="1650" b="0">
                <a:solidFill>
                  <a:srgbClr val="3D4854"/>
                </a:solidFill>
              </a:defRPr>
            </a:lvl5pPr>
            <a:lvl6pPr>
              <a:defRPr sz="1650" b="0">
                <a:solidFill>
                  <a:srgbClr val="3D4854"/>
                </a:solidFill>
              </a:defRPr>
            </a:lvl6pPr>
            <a:lvl7pPr>
              <a:defRPr sz="1650" b="0">
                <a:solidFill>
                  <a:srgbClr val="3D4854"/>
                </a:solidFill>
              </a:defRPr>
            </a:lvl7pPr>
            <a:lvl8pPr>
              <a:defRPr sz="1650" b="0">
                <a:solidFill>
                  <a:srgbClr val="3D4854"/>
                </a:solidFill>
              </a:defRPr>
            </a:lvl8pPr>
            <a:lvl9pPr>
              <a:defRPr sz="16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D4854"/>
                </a:solidFill>
              </a:defRPr>
            </a:pPr>
            <a:r>
              <a:rPr sz="1650" b="0">
                <a:solidFill>
                  <a:srgbClr val="3D4854"/>
                </a:solidFill>
              </a:rPr>
              <a:t>FD004  175 / 248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657B5-5797-4948-BD0C-0564FDB1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197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D4854"/>
                </a:solidFill>
              </a:defRPr>
            </a:defPPr>
            <a:lvl1pPr>
              <a:defRPr sz="1500" b="0">
                <a:solidFill>
                  <a:srgbClr val="3D4854"/>
                </a:solidFill>
              </a:defRPr>
            </a:lvl1pPr>
            <a:lvl2pPr>
              <a:defRPr sz="1500" b="0">
                <a:solidFill>
                  <a:srgbClr val="3D4854"/>
                </a:solidFill>
              </a:defRPr>
            </a:lvl2pPr>
            <a:lvl3pPr>
              <a:defRPr sz="1500" b="0">
                <a:solidFill>
                  <a:srgbClr val="3D4854"/>
                </a:solidFill>
              </a:defRPr>
            </a:lvl3pPr>
            <a:lvl4pPr>
              <a:defRPr sz="1500" b="0">
                <a:solidFill>
                  <a:srgbClr val="3D4854"/>
                </a:solidFill>
              </a:defRPr>
            </a:lvl4pPr>
            <a:lvl5pPr>
              <a:defRPr sz="1500" b="0">
                <a:solidFill>
                  <a:srgbClr val="3D4854"/>
                </a:solidFill>
              </a:defRPr>
            </a:lvl5pPr>
            <a:lvl6pPr>
              <a:defRPr sz="1500" b="0">
                <a:solidFill>
                  <a:srgbClr val="3D4854"/>
                </a:solidFill>
              </a:defRPr>
            </a:lvl6pPr>
            <a:lvl7pPr>
              <a:defRPr sz="1500" b="0">
                <a:solidFill>
                  <a:srgbClr val="3D4854"/>
                </a:solidFill>
              </a:defRPr>
            </a:lvl7pPr>
            <a:lvl8pPr>
              <a:defRPr sz="1500" b="0">
                <a:solidFill>
                  <a:srgbClr val="3D4854"/>
                </a:solidFill>
              </a:defRPr>
            </a:lvl8pPr>
            <a:lvl9pPr>
              <a:defRPr sz="150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D4854"/>
                </a:solidFill>
              </a:defRPr>
            </a:pPr>
            <a:r>
              <a:rPr sz="1500" b="0">
                <a:solidFill>
                  <a:srgbClr val="3D4854"/>
                </a:solidFill>
              </a:rPr>
              <a:t>Large individual errors remain.</a:t>
            </a:r>
          </a:p>
        </p:txBody>
      </p:sp>
    </p:spTree>
    <p:extLst>
      <p:ext uri="{BB962C8B-B14F-4D97-AF65-F5344CB8AC3E}">
        <p14:creationId xmlns:p14="http://schemas.microsoft.com/office/powerpoint/2010/main" val="149612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F9F2F-8727-45E3-A8D9-AF91A2D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Robustness and limits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A1A5C-AF1C-4ADF-AECF-72F6CDBE0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41b1bd2414e14"/>
          <a:stretch xmlns:a="http://schemas.openxmlformats.org/drawingml/2006/main"/>
        </p:blipFill>
        <p:spPr>
          <a:xfrm xmlns:a="http://schemas.openxmlformats.org/drawingml/2006/main">
            <a:off x="932089" y="1504950"/>
            <a:ext cx="6422571" cy="449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AE659-96EF-47D1-8EF5-AA595AAA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9775"/>
            <a:ext cx="3476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B42"/>
                </a:solidFill>
              </a:defRPr>
            </a:defPPr>
            <a:lvl1pPr>
              <a:defRPr sz="1650" b="1">
                <a:solidFill>
                  <a:srgbClr val="172B42"/>
                </a:solidFill>
              </a:defRPr>
            </a:lvl1pPr>
            <a:lvl2pPr>
              <a:defRPr sz="1650" b="1">
                <a:solidFill>
                  <a:srgbClr val="172B42"/>
                </a:solidFill>
              </a:defRPr>
            </a:lvl2pPr>
            <a:lvl3pPr>
              <a:defRPr sz="1650" b="1">
                <a:solidFill>
                  <a:srgbClr val="172B42"/>
                </a:solidFill>
              </a:defRPr>
            </a:lvl3pPr>
            <a:lvl4pPr>
              <a:defRPr sz="1650" b="1">
                <a:solidFill>
                  <a:srgbClr val="172B42"/>
                </a:solidFill>
              </a:defRPr>
            </a:lvl4pPr>
            <a:lvl5pPr>
              <a:defRPr sz="1650" b="1">
                <a:solidFill>
                  <a:srgbClr val="172B42"/>
                </a:solidFill>
              </a:defRPr>
            </a:lvl5pPr>
            <a:lvl6pPr>
              <a:defRPr sz="1650" b="1">
                <a:solidFill>
                  <a:srgbClr val="172B42"/>
                </a:solidFill>
              </a:defRPr>
            </a:lvl6pPr>
            <a:lvl7pPr>
              <a:defRPr sz="1650" b="1">
                <a:solidFill>
                  <a:srgbClr val="172B42"/>
                </a:solidFill>
              </a:defRPr>
            </a:lvl7pPr>
            <a:lvl8pPr>
              <a:defRPr sz="1650" b="1">
                <a:solidFill>
                  <a:srgbClr val="172B42"/>
                </a:solidFill>
              </a:defRPr>
            </a:lvl8pPr>
            <a:lvl9pPr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FD002 and FD004 change mean-RMSE leader under this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88998-8945-4748-A5BB-13117CA4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D4854"/>
                </a:solidFill>
              </a:defRPr>
            </a:defPPr>
            <a:lvl1pPr>
              <a:defRPr sz="1575" b="0">
                <a:solidFill>
                  <a:srgbClr val="3D4854"/>
                </a:solidFill>
              </a:defRPr>
            </a:lvl1pPr>
            <a:lvl2pPr>
              <a:defRPr sz="1575" b="0">
                <a:solidFill>
                  <a:srgbClr val="3D4854"/>
                </a:solidFill>
              </a:defRPr>
            </a:lvl2pPr>
            <a:lvl3pPr>
              <a:defRPr sz="1575" b="0">
                <a:solidFill>
                  <a:srgbClr val="3D4854"/>
                </a:solidFill>
              </a:defRPr>
            </a:lvl3pPr>
            <a:lvl4pPr>
              <a:defRPr sz="1575" b="0">
                <a:solidFill>
                  <a:srgbClr val="3D4854"/>
                </a:solidFill>
              </a:defRPr>
            </a:lvl4pPr>
            <a:lvl5pPr>
              <a:defRPr sz="1575" b="0">
                <a:solidFill>
                  <a:srgbClr val="3D4854"/>
                </a:solidFill>
              </a:defRPr>
            </a:lvl5pPr>
            <a:lvl6pPr>
              <a:defRPr sz="1575" b="0">
                <a:solidFill>
                  <a:srgbClr val="3D4854"/>
                </a:solidFill>
              </a:defRPr>
            </a:lvl6pPr>
            <a:lvl7pPr>
              <a:defRPr sz="1575" b="0">
                <a:solidFill>
                  <a:srgbClr val="3D4854"/>
                </a:solidFill>
              </a:defRPr>
            </a:lvl7pPr>
            <a:lvl8pPr>
              <a:defRPr sz="1575" b="0">
                <a:solidFill>
                  <a:srgbClr val="3D4854"/>
                </a:solidFill>
              </a:defRPr>
            </a:lvl8pPr>
            <a:lvl9pPr>
              <a:defRPr sz="157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D4854"/>
                </a:solidFill>
              </a:defRPr>
            </a:pPr>
            <a:r>
              <a:rPr sz="1575" b="0">
                <a:solidFill>
                  <a:srgbClr val="3D4854"/>
                </a:solidFill>
              </a:rPr>
              <a:t>Three repeats show sensitivity, not a confidence interval.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8332C-7488-4EA9-8DA1-FF8DFF01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387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D4854"/>
                </a:solidFill>
              </a:defRPr>
            </a:defPPr>
            <a:lvl1pPr>
              <a:defRPr sz="1575" b="0">
                <a:solidFill>
                  <a:srgbClr val="3D4854"/>
                </a:solidFill>
              </a:defRPr>
            </a:lvl1pPr>
            <a:lvl2pPr>
              <a:defRPr sz="1575" b="0">
                <a:solidFill>
                  <a:srgbClr val="3D4854"/>
                </a:solidFill>
              </a:defRPr>
            </a:lvl2pPr>
            <a:lvl3pPr>
              <a:defRPr sz="1575" b="0">
                <a:solidFill>
                  <a:srgbClr val="3D4854"/>
                </a:solidFill>
              </a:defRPr>
            </a:lvl3pPr>
            <a:lvl4pPr>
              <a:defRPr sz="1575" b="0">
                <a:solidFill>
                  <a:srgbClr val="3D4854"/>
                </a:solidFill>
              </a:defRPr>
            </a:lvl4pPr>
            <a:lvl5pPr>
              <a:defRPr sz="1575" b="0">
                <a:solidFill>
                  <a:srgbClr val="3D4854"/>
                </a:solidFill>
              </a:defRPr>
            </a:lvl5pPr>
            <a:lvl6pPr>
              <a:defRPr sz="1575" b="0">
                <a:solidFill>
                  <a:srgbClr val="3D4854"/>
                </a:solidFill>
              </a:defRPr>
            </a:lvl6pPr>
            <a:lvl7pPr>
              <a:defRPr sz="1575" b="0">
                <a:solidFill>
                  <a:srgbClr val="3D4854"/>
                </a:solidFill>
              </a:defRPr>
            </a:lvl7pPr>
            <a:lvl8pPr>
              <a:defRPr sz="1575" b="0">
                <a:solidFill>
                  <a:srgbClr val="3D4854"/>
                </a:solidFill>
              </a:defRPr>
            </a:lvl8pPr>
            <a:lvl9pPr>
              <a:defRPr sz="157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D4854"/>
                </a:solidFill>
              </a:defRPr>
            </a:pPr>
            <a:r>
              <a:rPr sz="1575" b="0">
                <a:solidFill>
                  <a:srgbClr val="3D4854"/>
                </a:solidFill>
              </a:rPr>
              <a:t>Simulated data and late-life overestimates prevent safety claims.</a:t>
            </a:r>
          </a:p>
        </p:txBody>
      </p:sp>
    </p:spTree>
    <p:extLst>
      <p:ext uri="{BB962C8B-B14F-4D97-AF65-F5344CB8AC3E}">
        <p14:creationId xmlns:p14="http://schemas.microsoft.com/office/powerpoint/2010/main" val="155710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ED50B-6B81-42AE-9AAC-2266210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2"/>
                </a:solidFill>
              </a:defRPr>
            </a:defPPr>
            <a:lvl1pPr>
              <a:defRPr sz="2550" b="1">
                <a:solidFill>
                  <a:srgbClr val="172B42"/>
                </a:solidFill>
              </a:defRPr>
            </a:lvl1pPr>
            <a:lvl2pPr>
              <a:defRPr sz="2550" b="1">
                <a:solidFill>
                  <a:srgbClr val="172B42"/>
                </a:solidFill>
              </a:defRPr>
            </a:lvl2pPr>
            <a:lvl3pPr>
              <a:defRPr sz="2550" b="1">
                <a:solidFill>
                  <a:srgbClr val="172B42"/>
                </a:solidFill>
              </a:defRPr>
            </a:lvl3pPr>
            <a:lvl4pPr>
              <a:defRPr sz="2550" b="1">
                <a:solidFill>
                  <a:srgbClr val="172B42"/>
                </a:solidFill>
              </a:defRPr>
            </a:lvl4pPr>
            <a:lvl5pPr>
              <a:defRPr sz="2550" b="1">
                <a:solidFill>
                  <a:srgbClr val="172B42"/>
                </a:solidFill>
              </a:defRPr>
            </a:lvl5pPr>
            <a:lvl6pPr>
              <a:defRPr sz="2550" b="1">
                <a:solidFill>
                  <a:srgbClr val="172B42"/>
                </a:solidFill>
              </a:defRPr>
            </a:lvl6pPr>
            <a:lvl7pPr>
              <a:defRPr sz="2550" b="1">
                <a:solidFill>
                  <a:srgbClr val="172B42"/>
                </a:solidFill>
              </a:defRPr>
            </a:lvl7pPr>
            <a:lvl8pPr>
              <a:defRPr sz="2550" b="1">
                <a:solidFill>
                  <a:srgbClr val="172B42"/>
                </a:solidFill>
              </a:defRPr>
            </a:lvl8pPr>
            <a:lvl9pPr>
              <a:defRPr sz="25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42"/>
                </a:solidFill>
              </a:defRPr>
            </a:pPr>
            <a:r>
              <a:rPr sz="2550" b="1">
                <a:solidFill>
                  <a:srgbClr val="172B42"/>
                </a:solidFill>
              </a:rPr>
              <a:t>Team presentation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D031B-5CE9-4C6A-9600-7B94CB32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Soham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BD75-6B42-446E-9D67-43D2EA06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8115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Project flow, model-selection decision and scores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121C0-D665-47B7-BA96-C8A4A6BA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Hardik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2DEA6-CB68-4E99-8BB8-5C0371CC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5745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Dataset, 26 fields and RUL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5E664-4656-4E7E-A459-640CD042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Farhaan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99E27-FDF5-4BAF-A5B6-3354B3E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Data cleaning and causal sensor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FE223-B388-49D3-AE17-8128A4A5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Sanjeet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5CA55-E391-44B4-AD1A-D9495E07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005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Candidate models and FD001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8F48C-0362-4592-89C0-18A4219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B42"/>
                </a:solidFill>
              </a:defRPr>
            </a:defPPr>
            <a:lvl1pPr>
              <a:defRPr sz="2025" b="1">
                <a:solidFill>
                  <a:srgbClr val="172B42"/>
                </a:solidFill>
              </a:defRPr>
            </a:lvl1pPr>
            <a:lvl2pPr>
              <a:defRPr sz="2025" b="1">
                <a:solidFill>
                  <a:srgbClr val="172B42"/>
                </a:solidFill>
              </a:defRPr>
            </a:lvl2pPr>
            <a:lvl3pPr>
              <a:defRPr sz="2025" b="1">
                <a:solidFill>
                  <a:srgbClr val="172B42"/>
                </a:solidFill>
              </a:defRPr>
            </a:lvl3pPr>
            <a:lvl4pPr>
              <a:defRPr sz="2025" b="1">
                <a:solidFill>
                  <a:srgbClr val="172B42"/>
                </a:solidFill>
              </a:defRPr>
            </a:lvl4pPr>
            <a:lvl5pPr>
              <a:defRPr sz="2025" b="1">
                <a:solidFill>
                  <a:srgbClr val="172B42"/>
                </a:solidFill>
              </a:defRPr>
            </a:lvl5pPr>
            <a:lvl6pPr>
              <a:defRPr sz="2025" b="1">
                <a:solidFill>
                  <a:srgbClr val="172B42"/>
                </a:solidFill>
              </a:defRPr>
            </a:lvl6pPr>
            <a:lvl7pPr>
              <a:defRPr sz="2025" b="1">
                <a:solidFill>
                  <a:srgbClr val="172B42"/>
                </a:solidFill>
              </a:defRPr>
            </a:lvl7pPr>
            <a:lvl8pPr>
              <a:defRPr sz="2025" b="1">
                <a:solidFill>
                  <a:srgbClr val="172B42"/>
                </a:solidFill>
              </a:defRPr>
            </a:lvl8pPr>
            <a:lvl9pPr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Sparsh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75710-4A44-4610-AFC9-F9CD26B4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8635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D4854"/>
                </a:solidFill>
              </a:defRPr>
            </a:defPPr>
            <a:lvl1pPr>
              <a:defRPr sz="1725" b="0">
                <a:solidFill>
                  <a:srgbClr val="3D4854"/>
                </a:solidFill>
              </a:defRPr>
            </a:lvl1pPr>
            <a:lvl2pPr>
              <a:defRPr sz="1725" b="0">
                <a:solidFill>
                  <a:srgbClr val="3D4854"/>
                </a:solidFill>
              </a:defRPr>
            </a:lvl2pPr>
            <a:lvl3pPr>
              <a:defRPr sz="1725" b="0">
                <a:solidFill>
                  <a:srgbClr val="3D4854"/>
                </a:solidFill>
              </a:defRPr>
            </a:lvl3pPr>
            <a:lvl4pPr>
              <a:defRPr sz="1725" b="0">
                <a:solidFill>
                  <a:srgbClr val="3D4854"/>
                </a:solidFill>
              </a:defRPr>
            </a:lvl4pPr>
            <a:lvl5pPr>
              <a:defRPr sz="1725" b="0">
                <a:solidFill>
                  <a:srgbClr val="3D4854"/>
                </a:solidFill>
              </a:defRPr>
            </a:lvl5pPr>
            <a:lvl6pPr>
              <a:defRPr sz="1725" b="0">
                <a:solidFill>
                  <a:srgbClr val="3D4854"/>
                </a:solidFill>
              </a:defRPr>
            </a:lvl6pPr>
            <a:lvl7pPr>
              <a:defRPr sz="1725" b="0">
                <a:solidFill>
                  <a:srgbClr val="3D4854"/>
                </a:solidFill>
              </a:defRPr>
            </a:lvl7pPr>
            <a:lvl8pPr>
              <a:defRPr sz="1725" b="0">
                <a:solidFill>
                  <a:srgbClr val="3D4854"/>
                </a:solidFill>
              </a:defRPr>
            </a:lvl8pPr>
            <a:lvl9pPr>
              <a:defRPr sz="1725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D4854"/>
                </a:solidFill>
              </a:defRPr>
            </a:pPr>
            <a:r>
              <a:rPr sz="1725" b="0">
                <a:solidFill>
                  <a:srgbClr val="3D4854"/>
                </a:solidFill>
              </a:rPr>
              <a:t>FD001/FD002 prediction plots and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129E7-39DD-46DC-BA68-A6D6B724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D4854"/>
                </a:solidFill>
              </a:defRPr>
            </a:defPPr>
            <a:lvl1pPr>
              <a:defRPr sz="1350" b="0">
                <a:solidFill>
                  <a:srgbClr val="3D4854"/>
                </a:solidFill>
              </a:defRPr>
            </a:lvl1pPr>
            <a:lvl2pPr>
              <a:defRPr sz="1350" b="0">
                <a:solidFill>
                  <a:srgbClr val="3D4854"/>
                </a:solidFill>
              </a:defRPr>
            </a:lvl2pPr>
            <a:lvl3pPr>
              <a:defRPr sz="1350" b="0">
                <a:solidFill>
                  <a:srgbClr val="3D4854"/>
                </a:solidFill>
              </a:defRPr>
            </a:lvl3pPr>
            <a:lvl4pPr>
              <a:defRPr sz="1350" b="0">
                <a:solidFill>
                  <a:srgbClr val="3D4854"/>
                </a:solidFill>
              </a:defRPr>
            </a:lvl4pPr>
            <a:lvl5pPr>
              <a:defRPr sz="1350" b="0">
                <a:solidFill>
                  <a:srgbClr val="3D4854"/>
                </a:solidFill>
              </a:defRPr>
            </a:lvl5pPr>
            <a:lvl6pPr>
              <a:defRPr sz="1350" b="0">
                <a:solidFill>
                  <a:srgbClr val="3D4854"/>
                </a:solidFill>
              </a:defRPr>
            </a:lvl6pPr>
            <a:lvl7pPr>
              <a:defRPr sz="1350" b="0">
                <a:solidFill>
                  <a:srgbClr val="3D4854"/>
                </a:solidFill>
              </a:defRPr>
            </a:lvl7pPr>
            <a:lvl8pPr>
              <a:defRPr sz="1350" b="0">
                <a:solidFill>
                  <a:srgbClr val="3D4854"/>
                </a:solidFill>
              </a:defRPr>
            </a:lvl8pPr>
            <a:lvl9pPr>
              <a:defRPr sz="1350" b="0">
                <a:solidFill>
                  <a:srgbClr val="3D485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D4854"/>
                </a:solidFill>
              </a:defRPr>
            </a:pPr>
            <a:r>
              <a:rPr sz="1350" b="0">
                <a:solidFill>
                  <a:srgbClr val="3D4854"/>
                </a:solidFill>
              </a:rPr>
              <a:t>Presentation split from the earlier group study report</a:t>
            </a:r>
          </a:p>
        </p:txBody>
      </p:sp>
    </p:spTree>
    <p:extLst>
      <p:ext uri="{BB962C8B-B14F-4D97-AF65-F5344CB8AC3E}">
        <p14:creationId xmlns:p14="http://schemas.microsoft.com/office/powerpoint/2010/main" val="396446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2026-10-20T17:00:40.3440000Z</dcterms:created>
  <dcterms:modified xsi:type="dcterms:W3CDTF">2026-10-20T17:00:40.3440000Z</dcterms:modified>
</coreProperties>
</file>